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49"/>
    <p:restoredTop sz="81048"/>
  </p:normalViewPr>
  <p:slideViewPr>
    <p:cSldViewPr snapToGrid="0" snapToObjects="1">
      <p:cViewPr varScale="1">
        <p:scale>
          <a:sx n="238" d="100"/>
          <a:sy n="238" d="100"/>
        </p:scale>
        <p:origin x="23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1400" b="0" i="0" u="none" strike="noStrike">
                <a:solidFill>
                  <a:srgbClr val="0D1B2A"/>
                </a:solidFill>
                <a:latin typeface="Arial"/>
              </a:defRPr>
            </a:pPr>
            <a:r>
              <a:rPr lang="en-US" sz="1400" b="0" i="0" u="none" strike="noStrike">
                <a:solidFill>
                  <a:srgbClr val="0D1B2A"/>
                </a:solidFill>
                <a:latin typeface="Arial"/>
              </a:rPr>
              <a:t>R-Squared by Outcome</a:t>
            </a:r>
          </a:p>
        </c:rich>
      </c:tx>
      <c:overlay val="0"/>
    </c:title>
    <c:autoTitleDeleted val="0"/>
    <c:plotArea>
      <c:layout/>
      <c:barChart>
        <c:barDir val="col"/>
        <c:grouping val="clustered"/>
        <c:varyColors val="0"/>
        <c:ser>
          <c:idx val="0"/>
          <c:order val="0"/>
          <c:tx>
            <c:strRef>
              <c:f>Sheet1!$B$1</c:f>
              <c:strCache>
                <c:ptCount val="1"/>
                <c:pt idx="0">
                  <c:v>R-squared</c:v>
                </c:pt>
              </c:strCache>
            </c:strRef>
          </c:tx>
          <c:spPr>
            <a:solidFill>
              <a:srgbClr val="1C3A52"/>
            </a:solidFill>
            <a:effectLst/>
          </c:spPr>
          <c:invertIfNegative val="0"/>
          <c:dPt>
            <c:idx val="0"/>
            <c:invertIfNegative val="0"/>
            <c:bubble3D val="0"/>
            <c:extLst>
              <c:ext xmlns:c16="http://schemas.microsoft.com/office/drawing/2014/chart" uri="{C3380CC4-5D6E-409C-BE32-E72D297353CC}">
                <c16:uniqueId val="{00000001-31D1-704A-8055-1E55BA97D5C3}"/>
              </c:ext>
            </c:extLst>
          </c:dPt>
          <c:dPt>
            <c:idx val="1"/>
            <c:invertIfNegative val="0"/>
            <c:bubble3D val="0"/>
            <c:extLst>
              <c:ext xmlns:c16="http://schemas.microsoft.com/office/drawing/2014/chart" uri="{C3380CC4-5D6E-409C-BE32-E72D297353CC}">
                <c16:uniqueId val="{00000003-31D1-704A-8055-1E55BA97D5C3}"/>
              </c:ext>
            </c:extLst>
          </c:dPt>
          <c:dPt>
            <c:idx val="2"/>
            <c:invertIfNegative val="0"/>
            <c:bubble3D val="0"/>
            <c:spPr>
              <a:solidFill>
                <a:srgbClr val="00A896"/>
              </a:solidFill>
              <a:effectLst/>
            </c:spPr>
            <c:extLst>
              <c:ext xmlns:c16="http://schemas.microsoft.com/office/drawing/2014/chart" uri="{C3380CC4-5D6E-409C-BE32-E72D297353CC}">
                <c16:uniqueId val="{00000005-31D1-704A-8055-1E55BA97D5C3}"/>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Fatigue</c:v>
                </c:pt>
                <c:pt idx="1">
                  <c:v>Monitoring Score</c:v>
                </c:pt>
                <c:pt idx="2">
                  <c:v>Training Readiness</c:v>
                </c:pt>
              </c:strCache>
            </c:strRef>
          </c:cat>
          <c:val>
            <c:numRef>
              <c:f>Sheet1!$B$2:$B$4</c:f>
              <c:numCache>
                <c:formatCode>General</c:formatCode>
                <c:ptCount val="3"/>
                <c:pt idx="0">
                  <c:v>0.35</c:v>
                </c:pt>
                <c:pt idx="1">
                  <c:v>0.37</c:v>
                </c:pt>
                <c:pt idx="2">
                  <c:v>0.54</c:v>
                </c:pt>
              </c:numCache>
            </c:numRef>
          </c:val>
          <c:extLst>
            <c:ext xmlns:c16="http://schemas.microsoft.com/office/drawing/2014/chart" uri="{C3380CC4-5D6E-409C-BE32-E72D297353CC}">
              <c16:uniqueId val="{00000006-31D1-704A-8055-1E55BA97D5C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max val="0.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D1B2A"/>
                </a:solidFill>
                <a:latin typeface="Arial"/>
              </a:defRPr>
            </a:pPr>
            <a:r>
              <a:rPr lang="en-US" sz="1300" b="0" i="0" u="none" strike="noStrike">
                <a:solidFill>
                  <a:srgbClr val="0D1B2A"/>
                </a:solidFill>
                <a:latin typeface="Arial"/>
              </a:rPr>
              <a:t>Approximate Median Training Readiness</a:t>
            </a:r>
          </a:p>
        </c:rich>
      </c:tx>
      <c:overlay val="0"/>
    </c:title>
    <c:autoTitleDeleted val="0"/>
    <c:plotArea>
      <c:layout/>
      <c:barChart>
        <c:barDir val="col"/>
        <c:grouping val="clustered"/>
        <c:varyColors val="0"/>
        <c:ser>
          <c:idx val="0"/>
          <c:order val="0"/>
          <c:tx>
            <c:strRef>
              <c:f>Sheet1!$B$1</c:f>
              <c:strCache>
                <c:ptCount val="1"/>
                <c:pt idx="0">
                  <c:v>Median Readiness</c:v>
                </c:pt>
              </c:strCache>
            </c:strRef>
          </c:tx>
          <c:spPr>
            <a:solidFill>
              <a:srgbClr val="1C3A52"/>
            </a:solidFill>
            <a:effectLst/>
          </c:spPr>
          <c:invertIfNegative val="0"/>
          <c:dPt>
            <c:idx val="0"/>
            <c:invertIfNegative val="0"/>
            <c:bubble3D val="0"/>
            <c:extLst>
              <c:ext xmlns:c16="http://schemas.microsoft.com/office/drawing/2014/chart" uri="{C3380CC4-5D6E-409C-BE32-E72D297353CC}">
                <c16:uniqueId val="{00000001-1FD5-1142-B26B-F355C56B9B78}"/>
              </c:ext>
            </c:extLst>
          </c:dPt>
          <c:dPt>
            <c:idx val="1"/>
            <c:invertIfNegative val="0"/>
            <c:bubble3D val="0"/>
            <c:spPr>
              <a:solidFill>
                <a:srgbClr val="00A896"/>
              </a:solidFill>
              <a:effectLst/>
            </c:spPr>
            <c:extLst>
              <c:ext xmlns:c16="http://schemas.microsoft.com/office/drawing/2014/chart" uri="{C3380CC4-5D6E-409C-BE32-E72D297353CC}">
                <c16:uniqueId val="{00000003-1FD5-1142-B26B-F355C56B9B78}"/>
              </c:ext>
            </c:extLst>
          </c:dPt>
          <c:dLbls>
            <c:numFmt formatCode="#,##0" sourceLinked="0"/>
            <c:spPr>
              <a:noFill/>
              <a:ln>
                <a:noFill/>
              </a:ln>
              <a:effectLst/>
            </c:spPr>
            <c:txPr>
              <a:bodyPr/>
              <a:lstStyle/>
              <a:p>
                <a:pPr>
                  <a:defRPr sz="12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Non-Game Day (0)</c:v>
                </c:pt>
                <c:pt idx="1">
                  <c:v>Game Day (1)</c:v>
                </c:pt>
              </c:strCache>
            </c:strRef>
          </c:cat>
          <c:val>
            <c:numRef>
              <c:f>Sheet1!$B$2:$B$3</c:f>
              <c:numCache>
                <c:formatCode>General</c:formatCode>
                <c:ptCount val="2"/>
                <c:pt idx="0">
                  <c:v>62</c:v>
                </c:pt>
                <c:pt idx="1">
                  <c:v>72</c:v>
                </c:pt>
              </c:numCache>
            </c:numRef>
          </c:val>
          <c:extLst>
            <c:ext xmlns:c16="http://schemas.microsoft.com/office/drawing/2014/chart" uri="{C3380CC4-5D6E-409C-BE32-E72D297353CC}">
              <c16:uniqueId val="{00000004-1FD5-1142-B26B-F355C56B9B7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9830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covers my Big Data Analysis final project, where I looked at whether workload metrics can help predict wellness and readiness in elite women's rugby athletes. The data comes from the 2017 to 2018 Canadian National Women's Rugby Sevens season.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motivation here is that in high performance sports, managing athlete fatigue is critical. Too much workload can hurt performance and raise injury risk. Rugby Sevens is a particularly demanding format because athletes can play multiple games in a short window, so load accumulates fast. My research question is simple: can we use recent workload data to predict how an athlete feels and how ready they are to train or compete?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uses three files. The wellness file has daily player-reported wellness scores. The RPE file has perceived exertion ratings, sometimes multiple entries per player per day, so I aggregated those to the player-day level before merging. The games file gave me the schedule, which I used to create a binary game day indicator. I excluded players 18 through 21 because they had no game appearances in the season data. The three outcomes I modeled were Fatigue, Monitoring Score, and Training Readiness.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fit linear regression models with player fixed effects, one model per wellness outcome. The fixed effects control for stable individual differences between athletes, so the estimates reflect within-player variation over time. The key predictors are Acute Load, Chronic Load, the Acute Chronic Ratio, and the game day indicator. The ACR is really the most theoretically interesting one because it captures whether an athlete's recent load is high relative to what they have been doing over the longer term.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models explained a meaningful share of the variance in wellness. Fatigue came in at R squared of 0.35, Monitoring Score at 0.37, and Training Readiness at 0.54. That last number is the headline finding. Over half the variation in readiness is explained by workload context and player identity alone, which is a strong result for a relatively simple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variables stood out consistently across all three models. The Acute Chronic Ratio was significant in every model, which makes sense. When recent load spikes relative to baseline, athletes feel it. Game day status was also significant across the board. Interestingly, the direction was not always what you might expect. Higher acute load did not always mean worse outcomes, which points to the complexity of athlete monitoring.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more interesting findings. You might expect athletes to feel worse on game days because of the added stress, but the data shows readiness was actually slightly higher on game days. This likely reflects athletes being mentally and physically primed to compete. It also reinforces that the relationship between workload and wellness is not linear. Context, like whether a game is scheduled, matters a lot.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workload metrics are meaningfully associated with athlete wellness, but the relationship is complex and varies by outcome. Training readiness was the most predictable outcome, and the ACR and game day status were the most informative predictors. Fatigue and monitoring score behaved differently, suggesting they capture different aspects of athlete condition. The broader takeaway is that simple workload monitoring frameworks can add real value to athlete management, though practitioners should be careful not to over-simplify what the numbers mean.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noindent%20GitHub%20repository:%20/url%7bhttps:/github.com/ssyht/BigDataAnalysis-FinalProject%7d"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3" name="Text 1"/>
          <p:cNvSpPr/>
          <p:nvPr/>
        </p:nvSpPr>
        <p:spPr>
          <a:xfrm>
            <a:off x="365760" y="457200"/>
            <a:ext cx="8412480" cy="320040"/>
          </a:xfrm>
          <a:prstGeom prst="rect">
            <a:avLst/>
          </a:prstGeom>
          <a:noFill/>
          <a:ln/>
        </p:spPr>
        <p:txBody>
          <a:bodyPr wrap="square" rtlCol="0" anchor="ctr"/>
          <a:lstStyle/>
          <a:p>
            <a:pPr marL="0" indent="0">
              <a:buNone/>
            </a:pPr>
            <a:r>
              <a:rPr lang="en-US" sz="1000" b="1" kern="0" spc="300" dirty="0">
                <a:solidFill>
                  <a:srgbClr val="00A896"/>
                </a:solidFill>
                <a:latin typeface="Aptos" panose="020B0004020202020204" pitchFamily="34" charset="0"/>
                <a:ea typeface="Calibri" pitchFamily="34" charset="-122"/>
                <a:cs typeface="Calibri" pitchFamily="34" charset="-120"/>
              </a:rPr>
              <a:t>BIG DATA ANALYSIS  |  SPRING 2026</a:t>
            </a:r>
            <a:endParaRPr lang="en-US" sz="1000" dirty="0">
              <a:latin typeface="Aptos" panose="020B0004020202020204" pitchFamily="34" charset="0"/>
            </a:endParaRPr>
          </a:p>
        </p:txBody>
      </p:sp>
      <p:sp>
        <p:nvSpPr>
          <p:cNvPr id="4" name="Text 2"/>
          <p:cNvSpPr/>
          <p:nvPr/>
        </p:nvSpPr>
        <p:spPr>
          <a:xfrm>
            <a:off x="365760" y="1005840"/>
            <a:ext cx="5943600" cy="2560320"/>
          </a:xfrm>
          <a:prstGeom prst="rect">
            <a:avLst/>
          </a:prstGeom>
          <a:noFill/>
          <a:ln/>
        </p:spPr>
        <p:txBody>
          <a:bodyPr wrap="square" rtlCol="0" anchor="t"/>
          <a:lstStyle/>
          <a:p>
            <a:pPr marL="0" indent="0">
              <a:buNone/>
            </a:pPr>
            <a:r>
              <a:rPr lang="en-US" sz="3600" b="1" dirty="0">
                <a:solidFill>
                  <a:srgbClr val="FFFFFF"/>
                </a:solidFill>
                <a:latin typeface="Aptos" panose="020B0004020202020204" pitchFamily="34" charset="0"/>
                <a:ea typeface="Georgia" pitchFamily="34" charset="-122"/>
                <a:cs typeface="Georgia" pitchFamily="34" charset="-120"/>
              </a:rPr>
              <a:t>Workload, Fatigue,</a:t>
            </a:r>
            <a:endParaRPr lang="en-US" sz="3600" dirty="0">
              <a:latin typeface="Aptos" panose="020B0004020202020204" pitchFamily="34" charset="0"/>
            </a:endParaRPr>
          </a:p>
          <a:p>
            <a:pPr marL="0" indent="0">
              <a:buNone/>
            </a:pPr>
            <a:r>
              <a:rPr lang="en-US" sz="3600" b="1" dirty="0">
                <a:solidFill>
                  <a:srgbClr val="FFFFFF"/>
                </a:solidFill>
                <a:latin typeface="Aptos" panose="020B0004020202020204" pitchFamily="34" charset="0"/>
                <a:ea typeface="Georgia" pitchFamily="34" charset="-122"/>
                <a:cs typeface="Georgia" pitchFamily="34" charset="-120"/>
              </a:rPr>
              <a:t>and Readiness in</a:t>
            </a:r>
            <a:endParaRPr lang="en-US" sz="3600" dirty="0">
              <a:latin typeface="Aptos" panose="020B0004020202020204" pitchFamily="34" charset="0"/>
            </a:endParaRPr>
          </a:p>
          <a:p>
            <a:pPr marL="0" indent="0">
              <a:buNone/>
            </a:pPr>
            <a:r>
              <a:rPr lang="en-US" sz="3600" b="1" dirty="0">
                <a:solidFill>
                  <a:srgbClr val="FFFFFF"/>
                </a:solidFill>
                <a:latin typeface="Aptos" panose="020B0004020202020204" pitchFamily="34" charset="0"/>
                <a:ea typeface="Georgia" pitchFamily="34" charset="-122"/>
                <a:cs typeface="Georgia" pitchFamily="34" charset="-120"/>
              </a:rPr>
              <a:t>Elite Women's Rugby Sevens</a:t>
            </a:r>
            <a:endParaRPr lang="en-US" sz="3600" dirty="0">
              <a:latin typeface="Aptos" panose="020B0004020202020204" pitchFamily="34" charset="0"/>
            </a:endParaRPr>
          </a:p>
        </p:txBody>
      </p:sp>
      <p:sp>
        <p:nvSpPr>
          <p:cNvPr id="7" name="Text 5"/>
          <p:cNvSpPr/>
          <p:nvPr/>
        </p:nvSpPr>
        <p:spPr>
          <a:xfrm>
            <a:off x="-433346" y="3154680"/>
            <a:ext cx="2743200" cy="640080"/>
          </a:xfrm>
          <a:prstGeom prst="rect">
            <a:avLst/>
          </a:prstGeom>
          <a:noFill/>
          <a:ln/>
        </p:spPr>
        <p:txBody>
          <a:bodyPr wrap="square" rtlCol="0" anchor="ctr"/>
          <a:lstStyle/>
          <a:p>
            <a:pPr marL="0" indent="0" algn="ctr">
              <a:buNone/>
            </a:pPr>
            <a:r>
              <a:rPr lang="en-US" sz="1100" dirty="0">
                <a:solidFill>
                  <a:srgbClr val="FFFFFF"/>
                </a:solidFill>
                <a:latin typeface="Aptos" panose="020B0004020202020204" pitchFamily="34" charset="0"/>
                <a:ea typeface="Calibri" pitchFamily="34" charset="-122"/>
                <a:cs typeface="Calibri" pitchFamily="34" charset="-120"/>
              </a:rPr>
              <a:t>Sanjit Subhash</a:t>
            </a:r>
            <a:endParaRPr lang="en-US" sz="1100" dirty="0">
              <a:latin typeface="Aptos" panose="020B0004020202020204" pitchFamily="34" charset="0"/>
            </a:endParaRPr>
          </a:p>
        </p:txBody>
      </p:sp>
      <p:sp>
        <p:nvSpPr>
          <p:cNvPr id="8" name="Shape 6"/>
          <p:cNvSpPr/>
          <p:nvPr/>
        </p:nvSpPr>
        <p:spPr>
          <a:xfrm>
            <a:off x="6858000" y="274320"/>
            <a:ext cx="2926080" cy="2926080"/>
          </a:xfrm>
          <a:prstGeom prst="ellipse">
            <a:avLst/>
          </a:prstGeom>
          <a:solidFill>
            <a:srgbClr val="00A896">
              <a:alpha val="15000"/>
            </a:srgbClr>
          </a:solidFill>
          <a:ln w="12700">
            <a:solidFill>
              <a:srgbClr val="00A896">
                <a:alpha val="30000"/>
              </a:srgbClr>
            </a:solidFill>
            <a:prstDash val="solid"/>
          </a:ln>
        </p:spPr>
        <p:txBody>
          <a:bodyPr/>
          <a:lstStyle/>
          <a:p>
            <a:endParaRPr lang="en-US">
              <a:latin typeface="Aptos" panose="020B0004020202020204" pitchFamily="34" charset="0"/>
            </a:endParaRPr>
          </a:p>
        </p:txBody>
      </p:sp>
      <p:sp>
        <p:nvSpPr>
          <p:cNvPr id="9" name="Shape 7"/>
          <p:cNvSpPr/>
          <p:nvPr/>
        </p:nvSpPr>
        <p:spPr>
          <a:xfrm>
            <a:off x="7589520" y="2011680"/>
            <a:ext cx="1645920" cy="1645920"/>
          </a:xfrm>
          <a:prstGeom prst="ellipse">
            <a:avLst/>
          </a:prstGeom>
          <a:solidFill>
            <a:srgbClr val="00A896">
              <a:alpha val="25000"/>
            </a:srgbClr>
          </a:solidFill>
          <a:ln w="12700">
            <a:solidFill>
              <a:srgbClr val="00A896">
                <a:alpha val="40000"/>
              </a:srgbClr>
            </a:solidFill>
            <a:prstDash val="solid"/>
          </a:ln>
        </p:spPr>
        <p:txBody>
          <a:bodyPr/>
          <a:lstStyle/>
          <a:p>
            <a:endParaRPr lang="en-US">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3200" b="1" dirty="0">
                <a:solidFill>
                  <a:srgbClr val="0D1B2A"/>
                </a:solidFill>
                <a:latin typeface="Aptos" panose="020B0004020202020204" pitchFamily="34" charset="0"/>
                <a:ea typeface="Georgia" pitchFamily="34" charset="-122"/>
                <a:cs typeface="Georgia" pitchFamily="34" charset="-120"/>
              </a:rPr>
              <a:t>Introduction</a:t>
            </a:r>
            <a:endParaRPr lang="en-US" sz="3200" dirty="0">
              <a:latin typeface="Aptos" panose="020B0004020202020204" pitchFamily="34" charset="0"/>
            </a:endParaRPr>
          </a:p>
        </p:txBody>
      </p:sp>
      <p:sp>
        <p:nvSpPr>
          <p:cNvPr id="3" name="Shape 1"/>
          <p:cNvSpPr/>
          <p:nvPr/>
        </p:nvSpPr>
        <p:spPr>
          <a:xfrm>
            <a:off x="274320" y="1051560"/>
            <a:ext cx="2743200" cy="3566160"/>
          </a:xfrm>
          <a:prstGeom prst="rect">
            <a:avLst/>
          </a:prstGeom>
          <a:solidFill>
            <a:srgbClr val="FFFFFF"/>
          </a:solidFill>
          <a:ln w="12700">
            <a:solidFill>
              <a:srgbClr val="CBD5E1"/>
            </a:solidFill>
            <a:prstDash val="solid"/>
          </a:ln>
          <a:effectLst>
            <a:outerShdw blurRad="101600" dist="25400" dir="8100000" algn="bl" rotWithShape="0">
              <a:srgbClr val="000000">
                <a:alpha val="8000"/>
              </a:srgbClr>
            </a:outerShdw>
          </a:effectLst>
        </p:spPr>
        <p:txBody>
          <a:bodyPr/>
          <a:lstStyle/>
          <a:p>
            <a:endParaRPr lang="en-US">
              <a:latin typeface="Aptos" panose="020B0004020202020204" pitchFamily="34" charset="0"/>
            </a:endParaRPr>
          </a:p>
        </p:txBody>
      </p:sp>
      <p:sp>
        <p:nvSpPr>
          <p:cNvPr id="4" name="Shape 2"/>
          <p:cNvSpPr/>
          <p:nvPr/>
        </p:nvSpPr>
        <p:spPr>
          <a:xfrm>
            <a:off x="274320" y="1051560"/>
            <a:ext cx="2743200" cy="109728"/>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5" name="Text 3"/>
          <p:cNvSpPr/>
          <p:nvPr/>
        </p:nvSpPr>
        <p:spPr>
          <a:xfrm>
            <a:off x="274320" y="1188720"/>
            <a:ext cx="2743200" cy="457200"/>
          </a:xfrm>
          <a:prstGeom prst="rect">
            <a:avLst/>
          </a:prstGeom>
          <a:noFill/>
          <a:ln/>
        </p:spPr>
        <p:txBody>
          <a:bodyPr wrap="square" rtlCol="0" anchor="ctr"/>
          <a:lstStyle/>
          <a:p>
            <a:pPr marL="0" indent="0" algn="ctr">
              <a:buNone/>
            </a:pPr>
            <a:r>
              <a:rPr lang="en-US" sz="1100" b="1" kern="0" spc="300" dirty="0">
                <a:solidFill>
                  <a:srgbClr val="00A896"/>
                </a:solidFill>
                <a:latin typeface="Aptos" panose="020B0004020202020204" pitchFamily="34" charset="0"/>
                <a:ea typeface="Calibri" pitchFamily="34" charset="-122"/>
                <a:cs typeface="Calibri" pitchFamily="34" charset="-120"/>
              </a:rPr>
              <a:t>WHY</a:t>
            </a:r>
            <a:endParaRPr lang="en-US" sz="1100" dirty="0">
              <a:latin typeface="Aptos" panose="020B0004020202020204" pitchFamily="34" charset="0"/>
            </a:endParaRPr>
          </a:p>
        </p:txBody>
      </p:sp>
      <p:sp>
        <p:nvSpPr>
          <p:cNvPr id="6" name="Text 4"/>
          <p:cNvSpPr/>
          <p:nvPr/>
        </p:nvSpPr>
        <p:spPr>
          <a:xfrm>
            <a:off x="411480" y="1691640"/>
            <a:ext cx="2468880" cy="502920"/>
          </a:xfrm>
          <a:prstGeom prst="rect">
            <a:avLst/>
          </a:prstGeom>
          <a:noFill/>
          <a:ln/>
        </p:spPr>
        <p:txBody>
          <a:bodyPr wrap="square" rtlCol="0" anchor="ctr"/>
          <a:lstStyle/>
          <a:p>
            <a:pPr marL="0" indent="0">
              <a:buNone/>
            </a:pPr>
            <a:r>
              <a:rPr lang="en-US" sz="1600" b="1" dirty="0">
                <a:solidFill>
                  <a:srgbClr val="0D1B2A"/>
                </a:solidFill>
                <a:latin typeface="Aptos" panose="020B0004020202020204" pitchFamily="34" charset="0"/>
                <a:ea typeface="Georgia" pitchFamily="34" charset="-122"/>
                <a:cs typeface="Georgia" pitchFamily="34" charset="-120"/>
              </a:rPr>
              <a:t>The Problem</a:t>
            </a:r>
            <a:endParaRPr lang="en-US" sz="1600" dirty="0">
              <a:latin typeface="Aptos" panose="020B0004020202020204" pitchFamily="34" charset="0"/>
            </a:endParaRPr>
          </a:p>
        </p:txBody>
      </p:sp>
      <p:sp>
        <p:nvSpPr>
          <p:cNvPr id="7" name="Text 5"/>
          <p:cNvSpPr/>
          <p:nvPr/>
        </p:nvSpPr>
        <p:spPr>
          <a:xfrm>
            <a:off x="411480" y="2240280"/>
            <a:ext cx="2468880" cy="2194560"/>
          </a:xfrm>
          <a:prstGeom prst="rect">
            <a:avLst/>
          </a:prstGeom>
          <a:noFill/>
          <a:ln/>
        </p:spPr>
        <p:txBody>
          <a:bodyPr wrap="square" rtlCol="0" anchor="t"/>
          <a:lstStyle/>
          <a:p>
            <a:pPr marL="0" indent="0">
              <a:buNone/>
            </a:pPr>
            <a:r>
              <a:rPr lang="en-US" sz="1300" dirty="0">
                <a:solidFill>
                  <a:srgbClr val="64748B"/>
                </a:solidFill>
                <a:latin typeface="Aptos" panose="020B0004020202020204" pitchFamily="34" charset="0"/>
                <a:ea typeface="Calibri" pitchFamily="34" charset="-122"/>
                <a:cs typeface="Calibri" pitchFamily="34" charset="-120"/>
              </a:rPr>
              <a:t>Excessive workload reduces performance and elevates injury risk in high performance sport. Fatigue management is essential for athlete health and longevity.</a:t>
            </a:r>
            <a:endParaRPr lang="en-US" sz="1300" dirty="0">
              <a:latin typeface="Aptos" panose="020B0004020202020204" pitchFamily="34" charset="0"/>
            </a:endParaRPr>
          </a:p>
        </p:txBody>
      </p:sp>
      <p:sp>
        <p:nvSpPr>
          <p:cNvPr id="8" name="Shape 6"/>
          <p:cNvSpPr/>
          <p:nvPr/>
        </p:nvSpPr>
        <p:spPr>
          <a:xfrm>
            <a:off x="3200400" y="1051560"/>
            <a:ext cx="2743200" cy="3566160"/>
          </a:xfrm>
          <a:prstGeom prst="rect">
            <a:avLst/>
          </a:prstGeom>
          <a:solidFill>
            <a:srgbClr val="FFFFFF"/>
          </a:solidFill>
          <a:ln w="12700">
            <a:solidFill>
              <a:srgbClr val="CBD5E1"/>
            </a:solidFill>
            <a:prstDash val="solid"/>
          </a:ln>
          <a:effectLst>
            <a:outerShdw blurRad="101600" dist="25400" dir="8100000" algn="bl" rotWithShape="0">
              <a:srgbClr val="000000">
                <a:alpha val="8000"/>
              </a:srgbClr>
            </a:outerShdw>
          </a:effectLst>
        </p:spPr>
        <p:txBody>
          <a:bodyPr/>
          <a:lstStyle/>
          <a:p>
            <a:endParaRPr lang="en-US">
              <a:latin typeface="Aptos" panose="020B0004020202020204" pitchFamily="34" charset="0"/>
            </a:endParaRPr>
          </a:p>
        </p:txBody>
      </p:sp>
      <p:sp>
        <p:nvSpPr>
          <p:cNvPr id="9" name="Shape 7"/>
          <p:cNvSpPr/>
          <p:nvPr/>
        </p:nvSpPr>
        <p:spPr>
          <a:xfrm>
            <a:off x="3200400" y="1051560"/>
            <a:ext cx="2743200" cy="109728"/>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10" name="Text 8"/>
          <p:cNvSpPr/>
          <p:nvPr/>
        </p:nvSpPr>
        <p:spPr>
          <a:xfrm>
            <a:off x="3200400" y="1188720"/>
            <a:ext cx="2743200" cy="457200"/>
          </a:xfrm>
          <a:prstGeom prst="rect">
            <a:avLst/>
          </a:prstGeom>
          <a:noFill/>
          <a:ln/>
        </p:spPr>
        <p:txBody>
          <a:bodyPr wrap="square" rtlCol="0" anchor="ctr"/>
          <a:lstStyle/>
          <a:p>
            <a:pPr marL="0" indent="0" algn="ctr">
              <a:buNone/>
            </a:pPr>
            <a:r>
              <a:rPr lang="en-US" sz="1100" b="1" kern="0" spc="300" dirty="0">
                <a:solidFill>
                  <a:srgbClr val="00A896"/>
                </a:solidFill>
                <a:latin typeface="Aptos" panose="020B0004020202020204" pitchFamily="34" charset="0"/>
                <a:ea typeface="Calibri" pitchFamily="34" charset="-122"/>
                <a:cs typeface="Calibri" pitchFamily="34" charset="-120"/>
              </a:rPr>
              <a:t>SPORT</a:t>
            </a:r>
            <a:endParaRPr lang="en-US" sz="1100" dirty="0">
              <a:latin typeface="Aptos" panose="020B0004020202020204" pitchFamily="34" charset="0"/>
            </a:endParaRPr>
          </a:p>
        </p:txBody>
      </p:sp>
      <p:sp>
        <p:nvSpPr>
          <p:cNvPr id="11" name="Text 9"/>
          <p:cNvSpPr/>
          <p:nvPr/>
        </p:nvSpPr>
        <p:spPr>
          <a:xfrm>
            <a:off x="3337560" y="1691640"/>
            <a:ext cx="2468880" cy="502920"/>
          </a:xfrm>
          <a:prstGeom prst="rect">
            <a:avLst/>
          </a:prstGeom>
          <a:noFill/>
          <a:ln/>
        </p:spPr>
        <p:txBody>
          <a:bodyPr wrap="square" rtlCol="0" anchor="ctr"/>
          <a:lstStyle/>
          <a:p>
            <a:pPr marL="0" indent="0">
              <a:buNone/>
            </a:pPr>
            <a:r>
              <a:rPr lang="en-US" sz="1600" b="1" dirty="0">
                <a:solidFill>
                  <a:srgbClr val="0D1B2A"/>
                </a:solidFill>
                <a:latin typeface="Aptos" panose="020B0004020202020204" pitchFamily="34" charset="0"/>
                <a:ea typeface="Georgia" pitchFamily="34" charset="-122"/>
                <a:cs typeface="Georgia" pitchFamily="34" charset="-120"/>
              </a:rPr>
              <a:t>Rugby Sevens Context</a:t>
            </a:r>
            <a:endParaRPr lang="en-US" sz="1600" dirty="0">
              <a:latin typeface="Aptos" panose="020B0004020202020204" pitchFamily="34" charset="0"/>
            </a:endParaRPr>
          </a:p>
        </p:txBody>
      </p:sp>
      <p:sp>
        <p:nvSpPr>
          <p:cNvPr id="12" name="Text 10"/>
          <p:cNvSpPr/>
          <p:nvPr/>
        </p:nvSpPr>
        <p:spPr>
          <a:xfrm>
            <a:off x="3337560" y="2240280"/>
            <a:ext cx="2468880" cy="2194560"/>
          </a:xfrm>
          <a:prstGeom prst="rect">
            <a:avLst/>
          </a:prstGeom>
          <a:noFill/>
          <a:ln/>
        </p:spPr>
        <p:txBody>
          <a:bodyPr wrap="square" rtlCol="0" anchor="t"/>
          <a:lstStyle/>
          <a:p>
            <a:pPr marL="0" indent="0">
              <a:buNone/>
            </a:pPr>
            <a:r>
              <a:rPr lang="en-US" sz="1300" dirty="0">
                <a:solidFill>
                  <a:srgbClr val="64748B"/>
                </a:solidFill>
                <a:latin typeface="Aptos" panose="020B0004020202020204" pitchFamily="34" charset="0"/>
                <a:ea typeface="Calibri" pitchFamily="34" charset="-122"/>
                <a:cs typeface="Calibri" pitchFamily="34" charset="-120"/>
              </a:rPr>
              <a:t>Rugby Sevens is especially demanding. Athletes may compete in multiple games within a single short time window, compressing physical stress.</a:t>
            </a:r>
            <a:endParaRPr lang="en-US" sz="1300" dirty="0">
              <a:latin typeface="Aptos" panose="020B0004020202020204" pitchFamily="34" charset="0"/>
            </a:endParaRPr>
          </a:p>
        </p:txBody>
      </p:sp>
      <p:sp>
        <p:nvSpPr>
          <p:cNvPr id="13" name="Shape 11"/>
          <p:cNvSpPr/>
          <p:nvPr/>
        </p:nvSpPr>
        <p:spPr>
          <a:xfrm>
            <a:off x="6126480" y="1051560"/>
            <a:ext cx="2743200" cy="3566160"/>
          </a:xfrm>
          <a:prstGeom prst="rect">
            <a:avLst/>
          </a:prstGeom>
          <a:solidFill>
            <a:srgbClr val="FFFFFF"/>
          </a:solidFill>
          <a:ln w="12700">
            <a:solidFill>
              <a:srgbClr val="CBD5E1"/>
            </a:solidFill>
            <a:prstDash val="solid"/>
          </a:ln>
          <a:effectLst>
            <a:outerShdw blurRad="101600" dist="25400" dir="8100000" algn="bl" rotWithShape="0">
              <a:srgbClr val="000000">
                <a:alpha val="8000"/>
              </a:srgbClr>
            </a:outerShdw>
          </a:effectLst>
        </p:spPr>
        <p:txBody>
          <a:bodyPr/>
          <a:lstStyle/>
          <a:p>
            <a:endParaRPr lang="en-US">
              <a:latin typeface="Aptos" panose="020B0004020202020204" pitchFamily="34" charset="0"/>
            </a:endParaRPr>
          </a:p>
        </p:txBody>
      </p:sp>
      <p:sp>
        <p:nvSpPr>
          <p:cNvPr id="14" name="Shape 12"/>
          <p:cNvSpPr/>
          <p:nvPr/>
        </p:nvSpPr>
        <p:spPr>
          <a:xfrm>
            <a:off x="6126480" y="1051560"/>
            <a:ext cx="2743200" cy="109728"/>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15" name="Text 13"/>
          <p:cNvSpPr/>
          <p:nvPr/>
        </p:nvSpPr>
        <p:spPr>
          <a:xfrm>
            <a:off x="6126480" y="1188720"/>
            <a:ext cx="2743200" cy="457200"/>
          </a:xfrm>
          <a:prstGeom prst="rect">
            <a:avLst/>
          </a:prstGeom>
          <a:noFill/>
          <a:ln/>
        </p:spPr>
        <p:txBody>
          <a:bodyPr wrap="square" rtlCol="0" anchor="ctr"/>
          <a:lstStyle/>
          <a:p>
            <a:pPr marL="0" indent="0" algn="ctr">
              <a:buNone/>
            </a:pPr>
            <a:r>
              <a:rPr lang="en-US" sz="1100" b="1" kern="0" spc="300" dirty="0">
                <a:solidFill>
                  <a:srgbClr val="00A896"/>
                </a:solidFill>
                <a:latin typeface="Aptos" panose="020B0004020202020204" pitchFamily="34" charset="0"/>
                <a:ea typeface="Calibri" pitchFamily="34" charset="-122"/>
                <a:cs typeface="Calibri" pitchFamily="34" charset="-120"/>
              </a:rPr>
              <a:t>AIM</a:t>
            </a:r>
            <a:endParaRPr lang="en-US" sz="1100" dirty="0">
              <a:latin typeface="Aptos" panose="020B0004020202020204" pitchFamily="34" charset="0"/>
            </a:endParaRPr>
          </a:p>
        </p:txBody>
      </p:sp>
      <p:sp>
        <p:nvSpPr>
          <p:cNvPr id="16" name="Text 14"/>
          <p:cNvSpPr/>
          <p:nvPr/>
        </p:nvSpPr>
        <p:spPr>
          <a:xfrm>
            <a:off x="6263640" y="1691640"/>
            <a:ext cx="2468880" cy="502920"/>
          </a:xfrm>
          <a:prstGeom prst="rect">
            <a:avLst/>
          </a:prstGeom>
          <a:noFill/>
          <a:ln/>
        </p:spPr>
        <p:txBody>
          <a:bodyPr wrap="square" rtlCol="0" anchor="ctr"/>
          <a:lstStyle/>
          <a:p>
            <a:pPr marL="0" indent="0">
              <a:buNone/>
            </a:pPr>
            <a:r>
              <a:rPr lang="en-US" sz="1600" b="1" dirty="0">
                <a:solidFill>
                  <a:srgbClr val="0D1B2A"/>
                </a:solidFill>
                <a:latin typeface="Aptos" panose="020B0004020202020204" pitchFamily="34" charset="0"/>
                <a:ea typeface="Georgia" pitchFamily="34" charset="-122"/>
                <a:cs typeface="Georgia" pitchFamily="34" charset="-120"/>
              </a:rPr>
              <a:t>Research Question</a:t>
            </a:r>
            <a:endParaRPr lang="en-US" sz="1600" dirty="0">
              <a:latin typeface="Aptos" panose="020B0004020202020204" pitchFamily="34" charset="0"/>
            </a:endParaRPr>
          </a:p>
        </p:txBody>
      </p:sp>
      <p:sp>
        <p:nvSpPr>
          <p:cNvPr id="17" name="Text 15"/>
          <p:cNvSpPr/>
          <p:nvPr/>
        </p:nvSpPr>
        <p:spPr>
          <a:xfrm>
            <a:off x="6263640" y="2240280"/>
            <a:ext cx="2468880" cy="2194560"/>
          </a:xfrm>
          <a:prstGeom prst="rect">
            <a:avLst/>
          </a:prstGeom>
          <a:noFill/>
          <a:ln/>
        </p:spPr>
        <p:txBody>
          <a:bodyPr wrap="square" rtlCol="0" anchor="t"/>
          <a:lstStyle/>
          <a:p>
            <a:pPr marL="0" indent="0">
              <a:buNone/>
            </a:pPr>
            <a:r>
              <a:rPr lang="en-US" sz="1300" dirty="0">
                <a:solidFill>
                  <a:srgbClr val="64748B"/>
                </a:solidFill>
                <a:latin typeface="Aptos" panose="020B0004020202020204" pitchFamily="34" charset="0"/>
                <a:ea typeface="Calibri" pitchFamily="34" charset="-122"/>
                <a:cs typeface="Calibri" pitchFamily="34" charset="-120"/>
              </a:rPr>
              <a:t>Are recent workload measures associated with athlete wellness and readiness? This project directly tests that relationship using real team data.</a:t>
            </a:r>
            <a:endParaRPr lang="en-US" sz="1300" dirty="0">
              <a:latin typeface="Aptos"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3200" b="1" dirty="0">
                <a:solidFill>
                  <a:srgbClr val="0D1B2A"/>
                </a:solidFill>
                <a:latin typeface="Aptos" panose="020B0004020202020204" pitchFamily="34" charset="0"/>
                <a:ea typeface="Georgia" pitchFamily="34" charset="-122"/>
                <a:cs typeface="Georgia" pitchFamily="34" charset="-120"/>
              </a:rPr>
              <a:t>Data and Methods</a:t>
            </a:r>
            <a:endParaRPr lang="en-US" sz="3200" dirty="0">
              <a:latin typeface="Aptos" panose="020B0004020202020204" pitchFamily="34" charset="0"/>
            </a:endParaRPr>
          </a:p>
        </p:txBody>
      </p:sp>
      <p:sp>
        <p:nvSpPr>
          <p:cNvPr id="3" name="Shape 1"/>
          <p:cNvSpPr/>
          <p:nvPr/>
        </p:nvSpPr>
        <p:spPr>
          <a:xfrm>
            <a:off x="365760" y="1005840"/>
            <a:ext cx="3840480" cy="3657600"/>
          </a:xfrm>
          <a:prstGeom prst="rect">
            <a:avLst/>
          </a:prstGeom>
          <a:solidFill>
            <a:srgbClr val="0D1B2A"/>
          </a:solidFill>
          <a:ln w="12700">
            <a:solidFill>
              <a:srgbClr val="0D1B2A"/>
            </a:solidFill>
            <a:prstDash val="solid"/>
          </a:ln>
        </p:spPr>
        <p:txBody>
          <a:bodyPr/>
          <a:lstStyle/>
          <a:p>
            <a:endParaRPr lang="en-US">
              <a:latin typeface="Aptos" panose="020B0004020202020204" pitchFamily="34" charset="0"/>
            </a:endParaRPr>
          </a:p>
        </p:txBody>
      </p:sp>
      <p:sp>
        <p:nvSpPr>
          <p:cNvPr id="4" name="Text 2"/>
          <p:cNvSpPr/>
          <p:nvPr/>
        </p:nvSpPr>
        <p:spPr>
          <a:xfrm>
            <a:off x="365760" y="1051560"/>
            <a:ext cx="3840480" cy="365760"/>
          </a:xfrm>
          <a:prstGeom prst="rect">
            <a:avLst/>
          </a:prstGeom>
          <a:noFill/>
          <a:ln/>
        </p:spPr>
        <p:txBody>
          <a:bodyPr wrap="square" rtlCol="0" anchor="ctr"/>
          <a:lstStyle/>
          <a:p>
            <a:pPr marL="0" indent="0" algn="ctr">
              <a:buNone/>
            </a:pPr>
            <a:r>
              <a:rPr lang="en-US" sz="1000" b="1" kern="0" spc="300" dirty="0">
                <a:solidFill>
                  <a:srgbClr val="00A896"/>
                </a:solidFill>
                <a:latin typeface="Aptos" panose="020B0004020202020204" pitchFamily="34" charset="0"/>
                <a:ea typeface="Calibri" pitchFamily="34" charset="-122"/>
                <a:cs typeface="Calibri" pitchFamily="34" charset="-120"/>
              </a:rPr>
              <a:t>DATA SOURCES</a:t>
            </a:r>
            <a:endParaRPr lang="en-US" sz="1000" dirty="0">
              <a:latin typeface="Aptos" panose="020B0004020202020204" pitchFamily="34" charset="0"/>
            </a:endParaRPr>
          </a:p>
        </p:txBody>
      </p:sp>
      <p:sp>
        <p:nvSpPr>
          <p:cNvPr id="5" name="Shape 3"/>
          <p:cNvSpPr/>
          <p:nvPr/>
        </p:nvSpPr>
        <p:spPr>
          <a:xfrm>
            <a:off x="548640" y="1554480"/>
            <a:ext cx="54864" cy="64008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6" name="Text 4"/>
          <p:cNvSpPr/>
          <p:nvPr/>
        </p:nvSpPr>
        <p:spPr>
          <a:xfrm>
            <a:off x="713232" y="1572768"/>
            <a:ext cx="3474720" cy="274320"/>
          </a:xfrm>
          <a:prstGeom prst="rect">
            <a:avLst/>
          </a:prstGeom>
          <a:noFill/>
          <a:ln/>
        </p:spPr>
        <p:txBody>
          <a:bodyPr wrap="square" rtlCol="0" anchor="ctr"/>
          <a:lstStyle/>
          <a:p>
            <a:pPr marL="0" indent="0">
              <a:buNone/>
            </a:pPr>
            <a:r>
              <a:rPr lang="en-US" sz="1300" b="1" dirty="0">
                <a:solidFill>
                  <a:srgbClr val="FFFFFF"/>
                </a:solidFill>
                <a:latin typeface="Aptos" panose="020B0004020202020204" pitchFamily="34" charset="0"/>
                <a:ea typeface="Calibri" pitchFamily="34" charset="-122"/>
                <a:cs typeface="Calibri" pitchFamily="34" charset="-120"/>
              </a:rPr>
              <a:t>wellness.csv</a:t>
            </a:r>
            <a:endParaRPr lang="en-US" sz="1300" dirty="0">
              <a:latin typeface="Aptos" panose="020B0004020202020204" pitchFamily="34" charset="0"/>
            </a:endParaRPr>
          </a:p>
        </p:txBody>
      </p:sp>
      <p:sp>
        <p:nvSpPr>
          <p:cNvPr id="7" name="Text 5"/>
          <p:cNvSpPr/>
          <p:nvPr/>
        </p:nvSpPr>
        <p:spPr>
          <a:xfrm>
            <a:off x="713232" y="1874520"/>
            <a:ext cx="3383280" cy="320040"/>
          </a:xfrm>
          <a:prstGeom prst="rect">
            <a:avLst/>
          </a:prstGeom>
          <a:noFill/>
          <a:ln/>
        </p:spPr>
        <p:txBody>
          <a:bodyPr wrap="square" rtlCol="0" anchor="ctr"/>
          <a:lstStyle/>
          <a:p>
            <a:pPr marL="0" indent="0">
              <a:buNone/>
            </a:pPr>
            <a:r>
              <a:rPr lang="en-US" sz="1100" dirty="0">
                <a:solidFill>
                  <a:srgbClr val="CBD5E1"/>
                </a:solidFill>
                <a:latin typeface="Aptos" panose="020B0004020202020204" pitchFamily="34" charset="0"/>
                <a:ea typeface="Calibri" pitchFamily="34" charset="-122"/>
                <a:cs typeface="Calibri" pitchFamily="34" charset="-120"/>
              </a:rPr>
              <a:t>Player-reported wellness outcomes by day</a:t>
            </a:r>
            <a:endParaRPr lang="en-US" sz="1100" dirty="0">
              <a:latin typeface="Aptos" panose="020B0004020202020204" pitchFamily="34" charset="0"/>
            </a:endParaRPr>
          </a:p>
        </p:txBody>
      </p:sp>
      <p:sp>
        <p:nvSpPr>
          <p:cNvPr id="8" name="Shape 6"/>
          <p:cNvSpPr/>
          <p:nvPr/>
        </p:nvSpPr>
        <p:spPr>
          <a:xfrm>
            <a:off x="548640" y="2560320"/>
            <a:ext cx="54864" cy="64008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9" name="Text 7"/>
          <p:cNvSpPr/>
          <p:nvPr/>
        </p:nvSpPr>
        <p:spPr>
          <a:xfrm>
            <a:off x="713232" y="2578608"/>
            <a:ext cx="3474720" cy="274320"/>
          </a:xfrm>
          <a:prstGeom prst="rect">
            <a:avLst/>
          </a:prstGeom>
          <a:noFill/>
          <a:ln/>
        </p:spPr>
        <p:txBody>
          <a:bodyPr wrap="square" rtlCol="0" anchor="ctr"/>
          <a:lstStyle/>
          <a:p>
            <a:pPr marL="0" indent="0">
              <a:buNone/>
            </a:pPr>
            <a:r>
              <a:rPr lang="en-US" sz="1300" b="1" dirty="0">
                <a:solidFill>
                  <a:srgbClr val="FFFFFF"/>
                </a:solidFill>
                <a:latin typeface="Aptos" panose="020B0004020202020204" pitchFamily="34" charset="0"/>
                <a:ea typeface="Calibri" pitchFamily="34" charset="-122"/>
                <a:cs typeface="Calibri" pitchFamily="34" charset="-120"/>
              </a:rPr>
              <a:t>rpe.csv</a:t>
            </a:r>
            <a:endParaRPr lang="en-US" sz="1300" dirty="0">
              <a:latin typeface="Aptos" panose="020B0004020202020204" pitchFamily="34" charset="0"/>
            </a:endParaRPr>
          </a:p>
        </p:txBody>
      </p:sp>
      <p:sp>
        <p:nvSpPr>
          <p:cNvPr id="10" name="Text 8"/>
          <p:cNvSpPr/>
          <p:nvPr/>
        </p:nvSpPr>
        <p:spPr>
          <a:xfrm>
            <a:off x="713232" y="2880360"/>
            <a:ext cx="3383280" cy="320040"/>
          </a:xfrm>
          <a:prstGeom prst="rect">
            <a:avLst/>
          </a:prstGeom>
          <a:noFill/>
          <a:ln/>
        </p:spPr>
        <p:txBody>
          <a:bodyPr wrap="square" rtlCol="0" anchor="ctr"/>
          <a:lstStyle/>
          <a:p>
            <a:pPr marL="0" indent="0">
              <a:buNone/>
            </a:pPr>
            <a:r>
              <a:rPr lang="en-US" sz="1100" dirty="0">
                <a:solidFill>
                  <a:srgbClr val="CBD5E1"/>
                </a:solidFill>
                <a:latin typeface="Aptos" panose="020B0004020202020204" pitchFamily="34" charset="0"/>
                <a:ea typeface="Calibri" pitchFamily="34" charset="-122"/>
                <a:cs typeface="Calibri" pitchFamily="34" charset="-120"/>
              </a:rPr>
              <a:t>Perceived exertion data with multiple sessions per player per day</a:t>
            </a:r>
            <a:endParaRPr lang="en-US" sz="1100" dirty="0">
              <a:latin typeface="Aptos" panose="020B0004020202020204" pitchFamily="34" charset="0"/>
            </a:endParaRPr>
          </a:p>
        </p:txBody>
      </p:sp>
      <p:sp>
        <p:nvSpPr>
          <p:cNvPr id="11" name="Shape 9"/>
          <p:cNvSpPr/>
          <p:nvPr/>
        </p:nvSpPr>
        <p:spPr>
          <a:xfrm>
            <a:off x="548640" y="3566160"/>
            <a:ext cx="54864" cy="64008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12" name="Text 10"/>
          <p:cNvSpPr/>
          <p:nvPr/>
        </p:nvSpPr>
        <p:spPr>
          <a:xfrm>
            <a:off x="713232" y="3584448"/>
            <a:ext cx="3474720" cy="274320"/>
          </a:xfrm>
          <a:prstGeom prst="rect">
            <a:avLst/>
          </a:prstGeom>
          <a:noFill/>
          <a:ln/>
        </p:spPr>
        <p:txBody>
          <a:bodyPr wrap="square" rtlCol="0" anchor="ctr"/>
          <a:lstStyle/>
          <a:p>
            <a:pPr marL="0" indent="0">
              <a:buNone/>
            </a:pPr>
            <a:r>
              <a:rPr lang="en-US" sz="1300" b="1" dirty="0">
                <a:solidFill>
                  <a:srgbClr val="FFFFFF"/>
                </a:solidFill>
                <a:latin typeface="Aptos" panose="020B0004020202020204" pitchFamily="34" charset="0"/>
                <a:ea typeface="Calibri" pitchFamily="34" charset="-122"/>
                <a:cs typeface="Calibri" pitchFamily="34" charset="-120"/>
              </a:rPr>
              <a:t>games.csv</a:t>
            </a:r>
            <a:endParaRPr lang="en-US" sz="1300" dirty="0">
              <a:latin typeface="Aptos" panose="020B0004020202020204" pitchFamily="34" charset="0"/>
            </a:endParaRPr>
          </a:p>
        </p:txBody>
      </p:sp>
      <p:sp>
        <p:nvSpPr>
          <p:cNvPr id="13" name="Text 11"/>
          <p:cNvSpPr/>
          <p:nvPr/>
        </p:nvSpPr>
        <p:spPr>
          <a:xfrm>
            <a:off x="713232" y="3886200"/>
            <a:ext cx="3383280" cy="320040"/>
          </a:xfrm>
          <a:prstGeom prst="rect">
            <a:avLst/>
          </a:prstGeom>
          <a:noFill/>
          <a:ln/>
        </p:spPr>
        <p:txBody>
          <a:bodyPr wrap="square" rtlCol="0" anchor="ctr"/>
          <a:lstStyle/>
          <a:p>
            <a:pPr marL="0" indent="0">
              <a:buNone/>
            </a:pPr>
            <a:r>
              <a:rPr lang="en-US" sz="1100" dirty="0">
                <a:solidFill>
                  <a:srgbClr val="CBD5E1"/>
                </a:solidFill>
                <a:latin typeface="Aptos" panose="020B0004020202020204" pitchFamily="34" charset="0"/>
                <a:ea typeface="Calibri" pitchFamily="34" charset="-122"/>
                <a:cs typeface="Calibri" pitchFamily="34" charset="-120"/>
              </a:rPr>
              <a:t>Game schedule used to create game day indicator</a:t>
            </a:r>
            <a:endParaRPr lang="en-US" sz="1100" dirty="0">
              <a:latin typeface="Aptos" panose="020B0004020202020204" pitchFamily="34" charset="0"/>
            </a:endParaRPr>
          </a:p>
        </p:txBody>
      </p:sp>
      <p:sp>
        <p:nvSpPr>
          <p:cNvPr id="14" name="Shape 12"/>
          <p:cNvSpPr/>
          <p:nvPr/>
        </p:nvSpPr>
        <p:spPr>
          <a:xfrm>
            <a:off x="4572000" y="1005840"/>
            <a:ext cx="4206240" cy="1645920"/>
          </a:xfrm>
          <a:prstGeom prst="rect">
            <a:avLst/>
          </a:prstGeom>
          <a:solidFill>
            <a:srgbClr val="FFFFFF"/>
          </a:solidFill>
          <a:ln w="12700">
            <a:solidFill>
              <a:srgbClr val="CBD5E1"/>
            </a:solidFill>
            <a:prstDash val="solid"/>
          </a:ln>
        </p:spPr>
        <p:txBody>
          <a:bodyPr/>
          <a:lstStyle/>
          <a:p>
            <a:endParaRPr lang="en-US">
              <a:latin typeface="Aptos" panose="020B0004020202020204" pitchFamily="34" charset="0"/>
            </a:endParaRPr>
          </a:p>
        </p:txBody>
      </p:sp>
      <p:sp>
        <p:nvSpPr>
          <p:cNvPr id="15" name="Text 13"/>
          <p:cNvSpPr/>
          <p:nvPr/>
        </p:nvSpPr>
        <p:spPr>
          <a:xfrm>
            <a:off x="4663440" y="1051560"/>
            <a:ext cx="4023360" cy="274320"/>
          </a:xfrm>
          <a:prstGeom prst="rect">
            <a:avLst/>
          </a:prstGeom>
          <a:noFill/>
          <a:ln/>
        </p:spPr>
        <p:txBody>
          <a:bodyPr wrap="square" rtlCol="0" anchor="ctr"/>
          <a:lstStyle/>
          <a:p>
            <a:pPr marL="0" indent="0">
              <a:buNone/>
            </a:pPr>
            <a:r>
              <a:rPr lang="en-US" sz="1000" b="1" kern="0" spc="200" dirty="0">
                <a:solidFill>
                  <a:srgbClr val="00A896"/>
                </a:solidFill>
                <a:latin typeface="Aptos" panose="020B0004020202020204" pitchFamily="34" charset="0"/>
                <a:ea typeface="Calibri" pitchFamily="34" charset="-122"/>
                <a:cs typeface="Calibri" pitchFamily="34" charset="-120"/>
              </a:rPr>
              <a:t>OUTCOMES</a:t>
            </a:r>
            <a:endParaRPr lang="en-US" sz="1000" dirty="0">
              <a:latin typeface="Aptos" panose="020B0004020202020204" pitchFamily="34" charset="0"/>
            </a:endParaRPr>
          </a:p>
        </p:txBody>
      </p:sp>
      <p:sp>
        <p:nvSpPr>
          <p:cNvPr id="16" name="Text 14"/>
          <p:cNvSpPr/>
          <p:nvPr/>
        </p:nvSpPr>
        <p:spPr>
          <a:xfrm>
            <a:off x="4663440" y="1371600"/>
            <a:ext cx="3931920" cy="1097280"/>
          </a:xfrm>
          <a:prstGeom prst="rect">
            <a:avLst/>
          </a:prstGeom>
          <a:noFill/>
          <a:ln/>
        </p:spPr>
        <p:txBody>
          <a:bodyPr wrap="square" rtlCol="0" anchor="ctr"/>
          <a:lstStyle/>
          <a:p>
            <a:pPr marL="342900" indent="-342900">
              <a:buSzPct val="100000"/>
              <a:buChar char="•"/>
            </a:pPr>
            <a:r>
              <a:rPr lang="en-US" sz="1300" dirty="0">
                <a:solidFill>
                  <a:srgbClr val="0D1B2A"/>
                </a:solidFill>
                <a:latin typeface="Aptos" panose="020B0004020202020204" pitchFamily="34" charset="0"/>
                <a:ea typeface="Calibri" pitchFamily="34" charset="-122"/>
                <a:cs typeface="Calibri" pitchFamily="34" charset="-120"/>
              </a:rPr>
              <a:t>Fatigue</a:t>
            </a:r>
            <a:endParaRPr lang="en-US" sz="1300" dirty="0">
              <a:latin typeface="Aptos" panose="020B0004020202020204" pitchFamily="34" charset="0"/>
            </a:endParaRPr>
          </a:p>
          <a:p>
            <a:pPr marL="342900" indent="-342900">
              <a:buSzPct val="100000"/>
              <a:buChar char="•"/>
            </a:pPr>
            <a:r>
              <a:rPr lang="en-US" sz="1300" dirty="0">
                <a:solidFill>
                  <a:srgbClr val="0D1B2A"/>
                </a:solidFill>
                <a:latin typeface="Aptos" panose="020B0004020202020204" pitchFamily="34" charset="0"/>
                <a:ea typeface="Calibri" pitchFamily="34" charset="-122"/>
                <a:cs typeface="Calibri" pitchFamily="34" charset="-120"/>
              </a:rPr>
              <a:t>Monitoring Score</a:t>
            </a:r>
            <a:endParaRPr lang="en-US" sz="1300" dirty="0">
              <a:latin typeface="Aptos" panose="020B0004020202020204" pitchFamily="34" charset="0"/>
            </a:endParaRPr>
          </a:p>
          <a:p>
            <a:pPr marL="342900" indent="-342900">
              <a:buSzPct val="100000"/>
              <a:buChar char="•"/>
            </a:pPr>
            <a:r>
              <a:rPr lang="en-US" sz="1300" dirty="0">
                <a:solidFill>
                  <a:srgbClr val="0D1B2A"/>
                </a:solidFill>
                <a:latin typeface="Aptos" panose="020B0004020202020204" pitchFamily="34" charset="0"/>
                <a:ea typeface="Calibri" pitchFamily="34" charset="-122"/>
                <a:cs typeface="Calibri" pitchFamily="34" charset="-120"/>
              </a:rPr>
              <a:t>Training Readiness</a:t>
            </a:r>
            <a:endParaRPr lang="en-US" sz="1300" dirty="0">
              <a:latin typeface="Aptos" panose="020B0004020202020204" pitchFamily="34" charset="0"/>
            </a:endParaRPr>
          </a:p>
        </p:txBody>
      </p:sp>
      <p:sp>
        <p:nvSpPr>
          <p:cNvPr id="17" name="Shape 15"/>
          <p:cNvSpPr/>
          <p:nvPr/>
        </p:nvSpPr>
        <p:spPr>
          <a:xfrm>
            <a:off x="4572000" y="2788920"/>
            <a:ext cx="4206240" cy="1691640"/>
          </a:xfrm>
          <a:prstGeom prst="rect">
            <a:avLst/>
          </a:prstGeom>
          <a:solidFill>
            <a:srgbClr val="FFFFFF"/>
          </a:solidFill>
          <a:ln w="12700">
            <a:solidFill>
              <a:srgbClr val="CBD5E1"/>
            </a:solidFill>
            <a:prstDash val="solid"/>
          </a:ln>
        </p:spPr>
        <p:txBody>
          <a:bodyPr/>
          <a:lstStyle/>
          <a:p>
            <a:endParaRPr lang="en-US">
              <a:latin typeface="Aptos" panose="020B0004020202020204" pitchFamily="34" charset="0"/>
            </a:endParaRPr>
          </a:p>
        </p:txBody>
      </p:sp>
      <p:sp>
        <p:nvSpPr>
          <p:cNvPr id="18" name="Text 16"/>
          <p:cNvSpPr/>
          <p:nvPr/>
        </p:nvSpPr>
        <p:spPr>
          <a:xfrm>
            <a:off x="4663440" y="2834640"/>
            <a:ext cx="4023360" cy="274320"/>
          </a:xfrm>
          <a:prstGeom prst="rect">
            <a:avLst/>
          </a:prstGeom>
          <a:noFill/>
          <a:ln/>
        </p:spPr>
        <p:txBody>
          <a:bodyPr wrap="square" rtlCol="0" anchor="ctr"/>
          <a:lstStyle/>
          <a:p>
            <a:pPr marL="0" indent="0">
              <a:buNone/>
            </a:pPr>
            <a:r>
              <a:rPr lang="en-US" sz="1000" b="1" kern="0" spc="200" dirty="0">
                <a:solidFill>
                  <a:srgbClr val="00A896"/>
                </a:solidFill>
                <a:latin typeface="Aptos" panose="020B0004020202020204" pitchFamily="34" charset="0"/>
                <a:ea typeface="Calibri" pitchFamily="34" charset="-122"/>
                <a:cs typeface="Calibri" pitchFamily="34" charset="-120"/>
              </a:rPr>
              <a:t>PREDICTORS</a:t>
            </a:r>
            <a:endParaRPr lang="en-US" sz="1000" dirty="0">
              <a:latin typeface="Aptos" panose="020B0004020202020204" pitchFamily="34" charset="0"/>
            </a:endParaRPr>
          </a:p>
        </p:txBody>
      </p:sp>
      <p:sp>
        <p:nvSpPr>
          <p:cNvPr id="19" name="Text 17"/>
          <p:cNvSpPr/>
          <p:nvPr/>
        </p:nvSpPr>
        <p:spPr>
          <a:xfrm>
            <a:off x="4663440" y="3154680"/>
            <a:ext cx="3931920" cy="1188720"/>
          </a:xfrm>
          <a:prstGeom prst="rect">
            <a:avLst/>
          </a:prstGeom>
          <a:noFill/>
          <a:ln/>
        </p:spPr>
        <p:txBody>
          <a:bodyPr wrap="square" rtlCol="0" anchor="ctr"/>
          <a:lstStyle/>
          <a:p>
            <a:pPr marL="342900" indent="-342900">
              <a:buSzPct val="100000"/>
              <a:buChar char="•"/>
            </a:pPr>
            <a:r>
              <a:rPr lang="en-US" sz="1300" dirty="0">
                <a:solidFill>
                  <a:srgbClr val="0D1B2A"/>
                </a:solidFill>
                <a:latin typeface="Aptos" panose="020B0004020202020204" pitchFamily="34" charset="0"/>
                <a:ea typeface="Calibri" pitchFamily="34" charset="-122"/>
                <a:cs typeface="Calibri" pitchFamily="34" charset="-120"/>
              </a:rPr>
              <a:t>Acute Load</a:t>
            </a:r>
            <a:endParaRPr lang="en-US" sz="1300" dirty="0">
              <a:latin typeface="Aptos" panose="020B0004020202020204" pitchFamily="34" charset="0"/>
            </a:endParaRPr>
          </a:p>
          <a:p>
            <a:pPr marL="342900" indent="-342900">
              <a:buSzPct val="100000"/>
              <a:buChar char="•"/>
            </a:pPr>
            <a:r>
              <a:rPr lang="en-US" sz="1300" dirty="0">
                <a:solidFill>
                  <a:srgbClr val="0D1B2A"/>
                </a:solidFill>
                <a:latin typeface="Aptos" panose="020B0004020202020204" pitchFamily="34" charset="0"/>
                <a:ea typeface="Calibri" pitchFamily="34" charset="-122"/>
                <a:cs typeface="Calibri" pitchFamily="34" charset="-120"/>
              </a:rPr>
              <a:t>Chronic Load</a:t>
            </a:r>
            <a:endParaRPr lang="en-US" sz="1300" dirty="0">
              <a:latin typeface="Aptos" panose="020B0004020202020204" pitchFamily="34" charset="0"/>
            </a:endParaRPr>
          </a:p>
          <a:p>
            <a:pPr marL="342900" indent="-342900">
              <a:buSzPct val="100000"/>
              <a:buChar char="•"/>
            </a:pPr>
            <a:r>
              <a:rPr lang="en-US" sz="1300" dirty="0">
                <a:solidFill>
                  <a:srgbClr val="0D1B2A"/>
                </a:solidFill>
                <a:latin typeface="Aptos" panose="020B0004020202020204" pitchFamily="34" charset="0"/>
                <a:ea typeface="Calibri" pitchFamily="34" charset="-122"/>
                <a:cs typeface="Calibri" pitchFamily="34" charset="-120"/>
              </a:rPr>
              <a:t>Acute Chronic Ratio (ACR)</a:t>
            </a:r>
            <a:endParaRPr lang="en-US" sz="1300" dirty="0">
              <a:latin typeface="Aptos" panose="020B0004020202020204" pitchFamily="34" charset="0"/>
            </a:endParaRPr>
          </a:p>
          <a:p>
            <a:pPr marL="342900" indent="-342900">
              <a:buSzPct val="100000"/>
              <a:buChar char="•"/>
            </a:pPr>
            <a:r>
              <a:rPr lang="en-US" sz="1300" dirty="0">
                <a:solidFill>
                  <a:srgbClr val="0D1B2A"/>
                </a:solidFill>
                <a:latin typeface="Aptos" panose="020B0004020202020204" pitchFamily="34" charset="0"/>
                <a:ea typeface="Calibri" pitchFamily="34" charset="-122"/>
                <a:cs typeface="Calibri" pitchFamily="34" charset="-120"/>
              </a:rPr>
              <a:t>Game Day Indicator</a:t>
            </a:r>
            <a:endParaRPr lang="en-US" sz="1300" dirty="0">
              <a:latin typeface="Aptos" panose="020B0004020202020204" pitchFamily="34" charset="0"/>
            </a:endParaRPr>
          </a:p>
        </p:txBody>
      </p:sp>
      <p:sp>
        <p:nvSpPr>
          <p:cNvPr id="20" name="Shape 18"/>
          <p:cNvSpPr/>
          <p:nvPr/>
        </p:nvSpPr>
        <p:spPr>
          <a:xfrm>
            <a:off x="365760" y="4663440"/>
            <a:ext cx="8412480" cy="274320"/>
          </a:xfrm>
          <a:prstGeom prst="rect">
            <a:avLst/>
          </a:prstGeom>
          <a:solidFill>
            <a:srgbClr val="00A896">
              <a:alpha val="15000"/>
            </a:srgbClr>
          </a:solidFill>
          <a:ln w="12700">
            <a:solidFill>
              <a:srgbClr val="00A896">
                <a:alpha val="30000"/>
              </a:srgbClr>
            </a:solidFill>
            <a:prstDash val="solid"/>
          </a:ln>
        </p:spPr>
        <p:txBody>
          <a:bodyPr/>
          <a:lstStyle/>
          <a:p>
            <a:endParaRPr lang="en-US">
              <a:latin typeface="Aptos" panose="020B0004020202020204" pitchFamily="34" charset="0"/>
            </a:endParaRPr>
          </a:p>
        </p:txBody>
      </p:sp>
      <p:sp>
        <p:nvSpPr>
          <p:cNvPr id="21" name="Text 19"/>
          <p:cNvSpPr/>
          <p:nvPr/>
        </p:nvSpPr>
        <p:spPr>
          <a:xfrm>
            <a:off x="457200" y="4681728"/>
            <a:ext cx="8229600" cy="256032"/>
          </a:xfrm>
          <a:prstGeom prst="rect">
            <a:avLst/>
          </a:prstGeom>
          <a:noFill/>
          <a:ln/>
        </p:spPr>
        <p:txBody>
          <a:bodyPr wrap="square" rtlCol="0" anchor="ctr"/>
          <a:lstStyle/>
          <a:p>
            <a:pPr marL="0" indent="0">
              <a:buNone/>
            </a:pPr>
            <a:r>
              <a:rPr lang="en-US" sz="1000" i="1" dirty="0">
                <a:solidFill>
                  <a:srgbClr val="1C3A52"/>
                </a:solidFill>
                <a:latin typeface="Aptos" panose="020B0004020202020204" pitchFamily="34" charset="0"/>
                <a:ea typeface="Calibri" pitchFamily="34" charset="-122"/>
                <a:cs typeface="Calibri" pitchFamily="34" charset="-120"/>
              </a:rPr>
              <a:t>Linear regression with player fixed effects fit to player day level data. Players 18 to 21 excluded (no season data).</a:t>
            </a:r>
            <a:endParaRPr lang="en-US" sz="1000" dirty="0">
              <a:latin typeface="Aptos"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3200" b="1" dirty="0">
                <a:solidFill>
                  <a:srgbClr val="FFFFFF"/>
                </a:solidFill>
                <a:latin typeface="Aptos" panose="020B0004020202020204" pitchFamily="34" charset="0"/>
                <a:ea typeface="Georgia" pitchFamily="34" charset="-122"/>
                <a:cs typeface="Georgia" pitchFamily="34" charset="-120"/>
              </a:rPr>
              <a:t>The Model</a:t>
            </a:r>
            <a:endParaRPr lang="en-US" sz="3200" dirty="0">
              <a:latin typeface="Aptos" panose="020B0004020202020204" pitchFamily="34" charset="0"/>
            </a:endParaRPr>
          </a:p>
        </p:txBody>
      </p:sp>
      <p:sp>
        <p:nvSpPr>
          <p:cNvPr id="3" name="Shape 1"/>
          <p:cNvSpPr/>
          <p:nvPr/>
        </p:nvSpPr>
        <p:spPr>
          <a:xfrm>
            <a:off x="914400" y="1005840"/>
            <a:ext cx="7315200" cy="1280160"/>
          </a:xfrm>
          <a:prstGeom prst="rect">
            <a:avLst/>
          </a:prstGeom>
          <a:solidFill>
            <a:srgbClr val="1C3A52"/>
          </a:solidFill>
          <a:ln w="12700">
            <a:solidFill>
              <a:srgbClr val="00A896"/>
            </a:solidFill>
            <a:prstDash val="solid"/>
          </a:ln>
        </p:spPr>
        <p:txBody>
          <a:bodyPr/>
          <a:lstStyle/>
          <a:p>
            <a:endParaRPr lang="en-US">
              <a:latin typeface="Aptos" panose="020B0004020202020204" pitchFamily="34" charset="0"/>
            </a:endParaRPr>
          </a:p>
        </p:txBody>
      </p:sp>
      <p:sp>
        <p:nvSpPr>
          <p:cNvPr id="4" name="Text 2"/>
          <p:cNvSpPr/>
          <p:nvPr/>
        </p:nvSpPr>
        <p:spPr>
          <a:xfrm>
            <a:off x="914400" y="1005840"/>
            <a:ext cx="7315200" cy="1280160"/>
          </a:xfrm>
          <a:prstGeom prst="rect">
            <a:avLst/>
          </a:prstGeom>
          <a:noFill/>
          <a:ln/>
        </p:spPr>
        <p:txBody>
          <a:bodyPr wrap="square" rtlCol="0" anchor="ctr"/>
          <a:lstStyle/>
          <a:p>
            <a:pPr marL="0" indent="0" algn="ctr">
              <a:buNone/>
            </a:pPr>
            <a:r>
              <a:rPr lang="en-US" sz="1700" b="1" dirty="0">
                <a:solidFill>
                  <a:srgbClr val="FFFFFF"/>
                </a:solidFill>
                <a:latin typeface="Aptos" panose="020B0004020202020204" pitchFamily="34" charset="0"/>
                <a:ea typeface="Calibri" pitchFamily="34" charset="-122"/>
                <a:cs typeface="Calibri" pitchFamily="34" charset="-120"/>
              </a:rPr>
              <a:t>Yᵢₜ = β₀ + β₁ AcuteLoadᵢₜ + β₂ ChronicLoadᵢₜ + β₃ ACRᵢₜ + β₄ GameDayᵢₜ + αᵢ + εᵢₜ</a:t>
            </a:r>
            <a:endParaRPr lang="en-US" sz="1700" dirty="0">
              <a:latin typeface="Aptos" panose="020B0004020202020204" pitchFamily="34" charset="0"/>
            </a:endParaRPr>
          </a:p>
        </p:txBody>
      </p:sp>
      <p:sp>
        <p:nvSpPr>
          <p:cNvPr id="5" name="Shape 3"/>
          <p:cNvSpPr/>
          <p:nvPr/>
        </p:nvSpPr>
        <p:spPr>
          <a:xfrm>
            <a:off x="548640" y="2514600"/>
            <a:ext cx="822960" cy="41148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6" name="Text 4"/>
          <p:cNvSpPr/>
          <p:nvPr/>
        </p:nvSpPr>
        <p:spPr>
          <a:xfrm>
            <a:off x="548640" y="2514600"/>
            <a:ext cx="822960" cy="411480"/>
          </a:xfrm>
          <a:prstGeom prst="rect">
            <a:avLst/>
          </a:prstGeom>
          <a:noFill/>
          <a:ln/>
        </p:spPr>
        <p:txBody>
          <a:bodyPr wrap="square" rtlCol="0" anchor="ctr"/>
          <a:lstStyle/>
          <a:p>
            <a:pPr marL="0" indent="0" algn="ctr">
              <a:buNone/>
            </a:pPr>
            <a:r>
              <a:rPr lang="en-US" sz="1300" b="1" dirty="0">
                <a:solidFill>
                  <a:srgbClr val="FFFFFF"/>
                </a:solidFill>
                <a:latin typeface="Aptos" panose="020B0004020202020204" pitchFamily="34" charset="0"/>
                <a:ea typeface="Calibri" pitchFamily="34" charset="-122"/>
                <a:cs typeface="Calibri" pitchFamily="34" charset="-120"/>
              </a:rPr>
              <a:t>Yᵢₜ</a:t>
            </a:r>
            <a:endParaRPr lang="en-US" sz="1300" dirty="0">
              <a:latin typeface="Aptos" panose="020B0004020202020204" pitchFamily="34" charset="0"/>
            </a:endParaRPr>
          </a:p>
        </p:txBody>
      </p:sp>
      <p:sp>
        <p:nvSpPr>
          <p:cNvPr id="7" name="Text 5"/>
          <p:cNvSpPr/>
          <p:nvPr/>
        </p:nvSpPr>
        <p:spPr>
          <a:xfrm>
            <a:off x="1463040" y="2560320"/>
            <a:ext cx="3200400" cy="365760"/>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Wellness outcome for player i on day t</a:t>
            </a:r>
            <a:endParaRPr lang="en-US" sz="1200" dirty="0">
              <a:latin typeface="Aptos" panose="020B0004020202020204" pitchFamily="34" charset="0"/>
            </a:endParaRPr>
          </a:p>
        </p:txBody>
      </p:sp>
      <p:sp>
        <p:nvSpPr>
          <p:cNvPr id="8" name="Shape 6"/>
          <p:cNvSpPr/>
          <p:nvPr/>
        </p:nvSpPr>
        <p:spPr>
          <a:xfrm>
            <a:off x="548640" y="3172968"/>
            <a:ext cx="822960" cy="41148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9" name="Text 7"/>
          <p:cNvSpPr/>
          <p:nvPr/>
        </p:nvSpPr>
        <p:spPr>
          <a:xfrm>
            <a:off x="548640" y="3172968"/>
            <a:ext cx="822960" cy="411480"/>
          </a:xfrm>
          <a:prstGeom prst="rect">
            <a:avLst/>
          </a:prstGeom>
          <a:noFill/>
          <a:ln/>
        </p:spPr>
        <p:txBody>
          <a:bodyPr wrap="square" rtlCol="0" anchor="ctr"/>
          <a:lstStyle/>
          <a:p>
            <a:pPr marL="0" indent="0" algn="ctr">
              <a:buNone/>
            </a:pPr>
            <a:r>
              <a:rPr lang="en-US" sz="1300" b="1" dirty="0">
                <a:solidFill>
                  <a:srgbClr val="FFFFFF"/>
                </a:solidFill>
                <a:latin typeface="Aptos" panose="020B0004020202020204" pitchFamily="34" charset="0"/>
                <a:ea typeface="Calibri" pitchFamily="34" charset="-122"/>
                <a:cs typeface="Calibri" pitchFamily="34" charset="-120"/>
              </a:rPr>
              <a:t>β₀ ... β₄</a:t>
            </a:r>
            <a:endParaRPr lang="en-US" sz="1300" dirty="0">
              <a:latin typeface="Aptos" panose="020B0004020202020204" pitchFamily="34" charset="0"/>
            </a:endParaRPr>
          </a:p>
        </p:txBody>
      </p:sp>
      <p:sp>
        <p:nvSpPr>
          <p:cNvPr id="10" name="Text 8"/>
          <p:cNvSpPr/>
          <p:nvPr/>
        </p:nvSpPr>
        <p:spPr>
          <a:xfrm>
            <a:off x="1463040" y="3218688"/>
            <a:ext cx="3200400" cy="365760"/>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Estimated regression coefficients</a:t>
            </a:r>
            <a:endParaRPr lang="en-US" sz="1200" dirty="0">
              <a:latin typeface="Aptos" panose="020B0004020202020204" pitchFamily="34" charset="0"/>
            </a:endParaRPr>
          </a:p>
        </p:txBody>
      </p:sp>
      <p:sp>
        <p:nvSpPr>
          <p:cNvPr id="11" name="Shape 9"/>
          <p:cNvSpPr/>
          <p:nvPr/>
        </p:nvSpPr>
        <p:spPr>
          <a:xfrm>
            <a:off x="548640" y="3831336"/>
            <a:ext cx="822960" cy="41148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12" name="Text 10"/>
          <p:cNvSpPr/>
          <p:nvPr/>
        </p:nvSpPr>
        <p:spPr>
          <a:xfrm>
            <a:off x="548640" y="3831336"/>
            <a:ext cx="822960" cy="411480"/>
          </a:xfrm>
          <a:prstGeom prst="rect">
            <a:avLst/>
          </a:prstGeom>
          <a:noFill/>
          <a:ln/>
        </p:spPr>
        <p:txBody>
          <a:bodyPr wrap="square" rtlCol="0" anchor="ctr"/>
          <a:lstStyle/>
          <a:p>
            <a:pPr marL="0" indent="0" algn="ctr">
              <a:buNone/>
            </a:pPr>
            <a:r>
              <a:rPr lang="en-US" sz="1300" b="1" dirty="0">
                <a:solidFill>
                  <a:srgbClr val="FFFFFF"/>
                </a:solidFill>
                <a:latin typeface="Aptos" panose="020B0004020202020204" pitchFamily="34" charset="0"/>
                <a:ea typeface="Calibri" pitchFamily="34" charset="-122"/>
                <a:cs typeface="Calibri" pitchFamily="34" charset="-120"/>
              </a:rPr>
              <a:t>ACR</a:t>
            </a:r>
            <a:endParaRPr lang="en-US" sz="1300" dirty="0">
              <a:latin typeface="Aptos" panose="020B0004020202020204" pitchFamily="34" charset="0"/>
            </a:endParaRPr>
          </a:p>
        </p:txBody>
      </p:sp>
      <p:sp>
        <p:nvSpPr>
          <p:cNvPr id="13" name="Text 11"/>
          <p:cNvSpPr/>
          <p:nvPr/>
        </p:nvSpPr>
        <p:spPr>
          <a:xfrm>
            <a:off x="1463040" y="3877056"/>
            <a:ext cx="3200400" cy="365760"/>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Acute Chronic Ratio (key predictor)</a:t>
            </a:r>
            <a:endParaRPr lang="en-US" sz="1200" dirty="0">
              <a:latin typeface="Aptos" panose="020B0004020202020204" pitchFamily="34" charset="0"/>
            </a:endParaRPr>
          </a:p>
        </p:txBody>
      </p:sp>
      <p:sp>
        <p:nvSpPr>
          <p:cNvPr id="14" name="Shape 12"/>
          <p:cNvSpPr/>
          <p:nvPr/>
        </p:nvSpPr>
        <p:spPr>
          <a:xfrm>
            <a:off x="4754880" y="2514600"/>
            <a:ext cx="822960" cy="41148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15" name="Text 13"/>
          <p:cNvSpPr/>
          <p:nvPr/>
        </p:nvSpPr>
        <p:spPr>
          <a:xfrm>
            <a:off x="4754880" y="2514600"/>
            <a:ext cx="822960" cy="411480"/>
          </a:xfrm>
          <a:prstGeom prst="rect">
            <a:avLst/>
          </a:prstGeom>
          <a:noFill/>
          <a:ln/>
        </p:spPr>
        <p:txBody>
          <a:bodyPr wrap="square" rtlCol="0" anchor="ctr"/>
          <a:lstStyle/>
          <a:p>
            <a:pPr marL="0" indent="0" algn="ctr">
              <a:buNone/>
            </a:pPr>
            <a:r>
              <a:rPr lang="en-US" sz="1300" b="1" dirty="0">
                <a:solidFill>
                  <a:srgbClr val="FFFFFF"/>
                </a:solidFill>
                <a:latin typeface="Aptos" panose="020B0004020202020204" pitchFamily="34" charset="0"/>
                <a:ea typeface="Calibri" pitchFamily="34" charset="-122"/>
                <a:cs typeface="Calibri" pitchFamily="34" charset="-120"/>
              </a:rPr>
              <a:t>αᵢ</a:t>
            </a:r>
            <a:endParaRPr lang="en-US" sz="1300" dirty="0">
              <a:latin typeface="Aptos" panose="020B0004020202020204" pitchFamily="34" charset="0"/>
            </a:endParaRPr>
          </a:p>
        </p:txBody>
      </p:sp>
      <p:sp>
        <p:nvSpPr>
          <p:cNvPr id="16" name="Text 14"/>
          <p:cNvSpPr/>
          <p:nvPr/>
        </p:nvSpPr>
        <p:spPr>
          <a:xfrm>
            <a:off x="5669280" y="2560320"/>
            <a:ext cx="3200400" cy="365760"/>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Player fixed effect (controls for individual differences)</a:t>
            </a:r>
            <a:endParaRPr lang="en-US" sz="1200" dirty="0">
              <a:latin typeface="Aptos" panose="020B0004020202020204" pitchFamily="34" charset="0"/>
            </a:endParaRPr>
          </a:p>
        </p:txBody>
      </p:sp>
      <p:sp>
        <p:nvSpPr>
          <p:cNvPr id="17" name="Shape 15"/>
          <p:cNvSpPr/>
          <p:nvPr/>
        </p:nvSpPr>
        <p:spPr>
          <a:xfrm>
            <a:off x="4754880" y="3172968"/>
            <a:ext cx="822960" cy="41148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18" name="Text 16"/>
          <p:cNvSpPr/>
          <p:nvPr/>
        </p:nvSpPr>
        <p:spPr>
          <a:xfrm>
            <a:off x="4754880" y="3172968"/>
            <a:ext cx="822960" cy="411480"/>
          </a:xfrm>
          <a:prstGeom prst="rect">
            <a:avLst/>
          </a:prstGeom>
          <a:noFill/>
          <a:ln/>
        </p:spPr>
        <p:txBody>
          <a:bodyPr wrap="square" rtlCol="0" anchor="ctr"/>
          <a:lstStyle/>
          <a:p>
            <a:pPr marL="0" indent="0" algn="ctr">
              <a:buNone/>
            </a:pPr>
            <a:r>
              <a:rPr lang="en-US" sz="1300" b="1" dirty="0">
                <a:solidFill>
                  <a:srgbClr val="FFFFFF"/>
                </a:solidFill>
                <a:latin typeface="Aptos" panose="020B0004020202020204" pitchFamily="34" charset="0"/>
                <a:ea typeface="Calibri" pitchFamily="34" charset="-122"/>
                <a:cs typeface="Calibri" pitchFamily="34" charset="-120"/>
              </a:rPr>
              <a:t>εᵢₜ</a:t>
            </a:r>
            <a:endParaRPr lang="en-US" sz="1300" dirty="0">
              <a:latin typeface="Aptos" panose="020B0004020202020204" pitchFamily="34" charset="0"/>
            </a:endParaRPr>
          </a:p>
        </p:txBody>
      </p:sp>
      <p:sp>
        <p:nvSpPr>
          <p:cNvPr id="19" name="Text 17"/>
          <p:cNvSpPr/>
          <p:nvPr/>
        </p:nvSpPr>
        <p:spPr>
          <a:xfrm>
            <a:off x="5669280" y="3218688"/>
            <a:ext cx="3200400" cy="365760"/>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Residual error term</a:t>
            </a:r>
            <a:endParaRPr lang="en-US" sz="1200" dirty="0">
              <a:latin typeface="Aptos"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3200" b="1" dirty="0">
                <a:solidFill>
                  <a:srgbClr val="0D1B2A"/>
                </a:solidFill>
                <a:latin typeface="Aptos" panose="020B0004020202020204" pitchFamily="34" charset="0"/>
                <a:ea typeface="Georgia" pitchFamily="34" charset="-122"/>
                <a:cs typeface="Georgia" pitchFamily="34" charset="-120"/>
              </a:rPr>
              <a:t>Results: Model Fit</a:t>
            </a:r>
            <a:endParaRPr lang="en-US" sz="3200" dirty="0">
              <a:latin typeface="Aptos" panose="020B0004020202020204" pitchFamily="34" charset="0"/>
            </a:endParaRPr>
          </a:p>
        </p:txBody>
      </p:sp>
      <p:sp>
        <p:nvSpPr>
          <p:cNvPr id="3" name="Text 1"/>
          <p:cNvSpPr/>
          <p:nvPr/>
        </p:nvSpPr>
        <p:spPr>
          <a:xfrm>
            <a:off x="457200" y="914400"/>
            <a:ext cx="8321040" cy="411480"/>
          </a:xfrm>
          <a:prstGeom prst="rect">
            <a:avLst/>
          </a:prstGeom>
          <a:noFill/>
          <a:ln/>
        </p:spPr>
        <p:txBody>
          <a:bodyPr wrap="square" rtlCol="0" anchor="ctr"/>
          <a:lstStyle/>
          <a:p>
            <a:pPr marL="0" indent="0">
              <a:buNone/>
            </a:pPr>
            <a:r>
              <a:rPr lang="en-US" sz="1400" i="1" dirty="0">
                <a:solidFill>
                  <a:srgbClr val="64748B"/>
                </a:solidFill>
                <a:latin typeface="Aptos" panose="020B0004020202020204" pitchFamily="34" charset="0"/>
                <a:ea typeface="Calibri" pitchFamily="34" charset="-122"/>
                <a:cs typeface="Calibri" pitchFamily="34" charset="-120"/>
              </a:rPr>
              <a:t>Three regression models were fit, one per wellness outcome. Training Readiness showed the strongest fit.</a:t>
            </a:r>
            <a:endParaRPr lang="en-US" sz="1400" dirty="0">
              <a:latin typeface="Aptos" panose="020B0004020202020204" pitchFamily="34" charset="0"/>
            </a:endParaRPr>
          </a:p>
        </p:txBody>
      </p:sp>
      <p:graphicFrame>
        <p:nvGraphicFramePr>
          <p:cNvPr id="4" name="Chart 0"/>
          <p:cNvGraphicFramePr/>
          <p:nvPr>
            <p:extLst>
              <p:ext uri="{D42A27DB-BD31-4B8C-83A1-F6EECF244321}">
                <p14:modId xmlns:p14="http://schemas.microsoft.com/office/powerpoint/2010/main" val="2717863262"/>
              </p:ext>
            </p:extLst>
          </p:nvPr>
        </p:nvGraphicFramePr>
        <p:xfrm>
          <a:off x="457200" y="1417320"/>
          <a:ext cx="530352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126480" y="1463040"/>
            <a:ext cx="2651760" cy="1051560"/>
          </a:xfrm>
          <a:prstGeom prst="rect">
            <a:avLst/>
          </a:prstGeom>
          <a:solidFill>
            <a:srgbClr val="FFFFFF"/>
          </a:solidFill>
          <a:ln w="12700">
            <a:solidFill>
              <a:srgbClr val="CBD5E1"/>
            </a:solidFill>
            <a:prstDash val="solid"/>
          </a:ln>
        </p:spPr>
        <p:txBody>
          <a:bodyPr/>
          <a:lstStyle/>
          <a:p>
            <a:endParaRPr lang="en-US">
              <a:latin typeface="Aptos" panose="020B0004020202020204" pitchFamily="34" charset="0"/>
            </a:endParaRPr>
          </a:p>
        </p:txBody>
      </p:sp>
      <p:sp>
        <p:nvSpPr>
          <p:cNvPr id="6" name="Text 3"/>
          <p:cNvSpPr/>
          <p:nvPr/>
        </p:nvSpPr>
        <p:spPr>
          <a:xfrm>
            <a:off x="6126480" y="1536192"/>
            <a:ext cx="2651760" cy="502920"/>
          </a:xfrm>
          <a:prstGeom prst="rect">
            <a:avLst/>
          </a:prstGeom>
          <a:noFill/>
          <a:ln/>
        </p:spPr>
        <p:txBody>
          <a:bodyPr wrap="square" rtlCol="0" anchor="ctr"/>
          <a:lstStyle/>
          <a:p>
            <a:pPr marL="0" indent="0" algn="ctr">
              <a:buNone/>
            </a:pPr>
            <a:r>
              <a:rPr lang="en-US" sz="3000" b="1" dirty="0">
                <a:solidFill>
                  <a:srgbClr val="0D1B2A"/>
                </a:solidFill>
                <a:latin typeface="Aptos" panose="020B0004020202020204" pitchFamily="34" charset="0"/>
                <a:ea typeface="Georgia" pitchFamily="34" charset="-122"/>
                <a:cs typeface="Georgia" pitchFamily="34" charset="-120"/>
              </a:rPr>
              <a:t>0.35</a:t>
            </a:r>
            <a:endParaRPr lang="en-US" sz="3000" dirty="0">
              <a:latin typeface="Aptos" panose="020B0004020202020204" pitchFamily="34" charset="0"/>
            </a:endParaRPr>
          </a:p>
        </p:txBody>
      </p:sp>
      <p:sp>
        <p:nvSpPr>
          <p:cNvPr id="7" name="Text 4"/>
          <p:cNvSpPr/>
          <p:nvPr/>
        </p:nvSpPr>
        <p:spPr>
          <a:xfrm>
            <a:off x="6126480" y="2029968"/>
            <a:ext cx="2651760" cy="228600"/>
          </a:xfrm>
          <a:prstGeom prst="rect">
            <a:avLst/>
          </a:prstGeom>
          <a:noFill/>
          <a:ln/>
        </p:spPr>
        <p:txBody>
          <a:bodyPr wrap="square" rtlCol="0" anchor="ctr"/>
          <a:lstStyle/>
          <a:p>
            <a:pPr marL="0" indent="0" algn="ctr">
              <a:buNone/>
            </a:pPr>
            <a:r>
              <a:rPr lang="en-US" sz="1100" dirty="0">
                <a:solidFill>
                  <a:srgbClr val="64748B"/>
                </a:solidFill>
                <a:latin typeface="Aptos" panose="020B0004020202020204" pitchFamily="34" charset="0"/>
                <a:ea typeface="Calibri" pitchFamily="34" charset="-122"/>
                <a:cs typeface="Calibri" pitchFamily="34" charset="-120"/>
              </a:rPr>
              <a:t>Fatigue R²</a:t>
            </a:r>
            <a:endParaRPr lang="en-US" sz="1100" dirty="0">
              <a:latin typeface="Aptos" panose="020B0004020202020204" pitchFamily="34" charset="0"/>
            </a:endParaRPr>
          </a:p>
        </p:txBody>
      </p:sp>
      <p:sp>
        <p:nvSpPr>
          <p:cNvPr id="8" name="Text 5"/>
          <p:cNvSpPr/>
          <p:nvPr/>
        </p:nvSpPr>
        <p:spPr>
          <a:xfrm>
            <a:off x="6126480" y="2258568"/>
            <a:ext cx="2651760" cy="201168"/>
          </a:xfrm>
          <a:prstGeom prst="rect">
            <a:avLst/>
          </a:prstGeom>
          <a:noFill/>
          <a:ln/>
        </p:spPr>
        <p:txBody>
          <a:bodyPr wrap="square" rtlCol="0" anchor="ctr"/>
          <a:lstStyle/>
          <a:p>
            <a:pPr marL="0" indent="0" algn="ctr">
              <a:buNone/>
            </a:pPr>
            <a:r>
              <a:rPr lang="en-US" sz="1000" i="1" dirty="0">
                <a:solidFill>
                  <a:srgbClr val="CBD5E1"/>
                </a:solidFill>
                <a:latin typeface="Aptos" panose="020B0004020202020204" pitchFamily="34" charset="0"/>
                <a:ea typeface="Calibri" pitchFamily="34" charset="-122"/>
                <a:cs typeface="Calibri" pitchFamily="34" charset="-120"/>
              </a:rPr>
              <a:t>Moderate fit</a:t>
            </a:r>
            <a:endParaRPr lang="en-US" sz="1000" dirty="0">
              <a:latin typeface="Aptos" panose="020B0004020202020204" pitchFamily="34" charset="0"/>
            </a:endParaRPr>
          </a:p>
        </p:txBody>
      </p:sp>
      <p:sp>
        <p:nvSpPr>
          <p:cNvPr id="9" name="Shape 6"/>
          <p:cNvSpPr/>
          <p:nvPr/>
        </p:nvSpPr>
        <p:spPr>
          <a:xfrm>
            <a:off x="6126480" y="2651760"/>
            <a:ext cx="2651760" cy="1051560"/>
          </a:xfrm>
          <a:prstGeom prst="rect">
            <a:avLst/>
          </a:prstGeom>
          <a:solidFill>
            <a:srgbClr val="FFFFFF"/>
          </a:solidFill>
          <a:ln w="12700">
            <a:solidFill>
              <a:srgbClr val="CBD5E1"/>
            </a:solidFill>
            <a:prstDash val="solid"/>
          </a:ln>
        </p:spPr>
        <p:txBody>
          <a:bodyPr/>
          <a:lstStyle/>
          <a:p>
            <a:endParaRPr lang="en-US">
              <a:latin typeface="Aptos" panose="020B0004020202020204" pitchFamily="34" charset="0"/>
            </a:endParaRPr>
          </a:p>
        </p:txBody>
      </p:sp>
      <p:sp>
        <p:nvSpPr>
          <p:cNvPr id="10" name="Text 7"/>
          <p:cNvSpPr/>
          <p:nvPr/>
        </p:nvSpPr>
        <p:spPr>
          <a:xfrm>
            <a:off x="6126480" y="2724912"/>
            <a:ext cx="2651760" cy="502920"/>
          </a:xfrm>
          <a:prstGeom prst="rect">
            <a:avLst/>
          </a:prstGeom>
          <a:noFill/>
          <a:ln/>
        </p:spPr>
        <p:txBody>
          <a:bodyPr wrap="square" rtlCol="0" anchor="ctr"/>
          <a:lstStyle/>
          <a:p>
            <a:pPr marL="0" indent="0" algn="ctr">
              <a:buNone/>
            </a:pPr>
            <a:r>
              <a:rPr lang="en-US" sz="3000" b="1" dirty="0">
                <a:solidFill>
                  <a:srgbClr val="0D1B2A"/>
                </a:solidFill>
                <a:latin typeface="Aptos" panose="020B0004020202020204" pitchFamily="34" charset="0"/>
                <a:ea typeface="Georgia" pitchFamily="34" charset="-122"/>
                <a:cs typeface="Georgia" pitchFamily="34" charset="-120"/>
              </a:rPr>
              <a:t>0.37</a:t>
            </a:r>
            <a:endParaRPr lang="en-US" sz="3000" dirty="0">
              <a:latin typeface="Aptos" panose="020B0004020202020204" pitchFamily="34" charset="0"/>
            </a:endParaRPr>
          </a:p>
        </p:txBody>
      </p:sp>
      <p:sp>
        <p:nvSpPr>
          <p:cNvPr id="11" name="Text 8"/>
          <p:cNvSpPr/>
          <p:nvPr/>
        </p:nvSpPr>
        <p:spPr>
          <a:xfrm>
            <a:off x="6126480" y="3218688"/>
            <a:ext cx="2651760" cy="228600"/>
          </a:xfrm>
          <a:prstGeom prst="rect">
            <a:avLst/>
          </a:prstGeom>
          <a:noFill/>
          <a:ln/>
        </p:spPr>
        <p:txBody>
          <a:bodyPr wrap="square" rtlCol="0" anchor="ctr"/>
          <a:lstStyle/>
          <a:p>
            <a:pPr marL="0" indent="0" algn="ctr">
              <a:buNone/>
            </a:pPr>
            <a:r>
              <a:rPr lang="en-US" sz="1100" dirty="0">
                <a:solidFill>
                  <a:srgbClr val="64748B"/>
                </a:solidFill>
                <a:latin typeface="Aptos" panose="020B0004020202020204" pitchFamily="34" charset="0"/>
                <a:ea typeface="Calibri" pitchFamily="34" charset="-122"/>
                <a:cs typeface="Calibri" pitchFamily="34" charset="-120"/>
              </a:rPr>
              <a:t>Monitoring Score R²</a:t>
            </a:r>
            <a:endParaRPr lang="en-US" sz="1100" dirty="0">
              <a:latin typeface="Aptos" panose="020B0004020202020204" pitchFamily="34" charset="0"/>
            </a:endParaRPr>
          </a:p>
        </p:txBody>
      </p:sp>
      <p:sp>
        <p:nvSpPr>
          <p:cNvPr id="12" name="Text 9"/>
          <p:cNvSpPr/>
          <p:nvPr/>
        </p:nvSpPr>
        <p:spPr>
          <a:xfrm>
            <a:off x="6126480" y="3447288"/>
            <a:ext cx="2651760" cy="201168"/>
          </a:xfrm>
          <a:prstGeom prst="rect">
            <a:avLst/>
          </a:prstGeom>
          <a:noFill/>
          <a:ln/>
        </p:spPr>
        <p:txBody>
          <a:bodyPr wrap="square" rtlCol="0" anchor="ctr"/>
          <a:lstStyle/>
          <a:p>
            <a:pPr marL="0" indent="0" algn="ctr">
              <a:buNone/>
            </a:pPr>
            <a:r>
              <a:rPr lang="en-US" sz="1000" i="1" dirty="0">
                <a:solidFill>
                  <a:srgbClr val="CBD5E1"/>
                </a:solidFill>
                <a:latin typeface="Aptos" panose="020B0004020202020204" pitchFamily="34" charset="0"/>
                <a:ea typeface="Calibri" pitchFamily="34" charset="-122"/>
                <a:cs typeface="Calibri" pitchFamily="34" charset="-120"/>
              </a:rPr>
              <a:t>Moderate fit</a:t>
            </a:r>
            <a:endParaRPr lang="en-US" sz="1000" dirty="0">
              <a:latin typeface="Aptos" panose="020B0004020202020204" pitchFamily="34" charset="0"/>
            </a:endParaRPr>
          </a:p>
        </p:txBody>
      </p:sp>
      <p:sp>
        <p:nvSpPr>
          <p:cNvPr id="13" name="Shape 10"/>
          <p:cNvSpPr/>
          <p:nvPr/>
        </p:nvSpPr>
        <p:spPr>
          <a:xfrm>
            <a:off x="6126480" y="3840480"/>
            <a:ext cx="2651760" cy="105156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14" name="Text 11"/>
          <p:cNvSpPr/>
          <p:nvPr/>
        </p:nvSpPr>
        <p:spPr>
          <a:xfrm>
            <a:off x="6126480" y="3913632"/>
            <a:ext cx="2651760" cy="502920"/>
          </a:xfrm>
          <a:prstGeom prst="rect">
            <a:avLst/>
          </a:prstGeom>
          <a:noFill/>
          <a:ln/>
        </p:spPr>
        <p:txBody>
          <a:bodyPr wrap="square" rtlCol="0" anchor="ctr"/>
          <a:lstStyle/>
          <a:p>
            <a:pPr marL="0" indent="0" algn="ctr">
              <a:buNone/>
            </a:pPr>
            <a:r>
              <a:rPr lang="en-US" sz="3000" b="1" dirty="0">
                <a:solidFill>
                  <a:srgbClr val="FFFFFF"/>
                </a:solidFill>
                <a:latin typeface="Aptos" panose="020B0004020202020204" pitchFamily="34" charset="0"/>
                <a:ea typeface="Georgia" pitchFamily="34" charset="-122"/>
                <a:cs typeface="Georgia" pitchFamily="34" charset="-120"/>
              </a:rPr>
              <a:t>0.54</a:t>
            </a:r>
            <a:endParaRPr lang="en-US" sz="3000" dirty="0">
              <a:latin typeface="Aptos" panose="020B0004020202020204" pitchFamily="34" charset="0"/>
            </a:endParaRPr>
          </a:p>
        </p:txBody>
      </p:sp>
      <p:sp>
        <p:nvSpPr>
          <p:cNvPr id="15" name="Text 12"/>
          <p:cNvSpPr/>
          <p:nvPr/>
        </p:nvSpPr>
        <p:spPr>
          <a:xfrm>
            <a:off x="6126480" y="4407408"/>
            <a:ext cx="2651760" cy="228600"/>
          </a:xfrm>
          <a:prstGeom prst="rect">
            <a:avLst/>
          </a:prstGeom>
          <a:noFill/>
          <a:ln/>
        </p:spPr>
        <p:txBody>
          <a:bodyPr wrap="square" rtlCol="0" anchor="ctr"/>
          <a:lstStyle/>
          <a:p>
            <a:pPr marL="0" indent="0" algn="ctr">
              <a:buNone/>
            </a:pPr>
            <a:r>
              <a:rPr lang="en-US" sz="1100" dirty="0">
                <a:solidFill>
                  <a:srgbClr val="FFFFFF"/>
                </a:solidFill>
                <a:latin typeface="Aptos" panose="020B0004020202020204" pitchFamily="34" charset="0"/>
                <a:ea typeface="Calibri" pitchFamily="34" charset="-122"/>
                <a:cs typeface="Calibri" pitchFamily="34" charset="-120"/>
              </a:rPr>
              <a:t>Training Readiness R²</a:t>
            </a:r>
            <a:endParaRPr lang="en-US" sz="1100" dirty="0">
              <a:latin typeface="Aptos" panose="020B0004020202020204" pitchFamily="34" charset="0"/>
            </a:endParaRPr>
          </a:p>
        </p:txBody>
      </p:sp>
      <p:sp>
        <p:nvSpPr>
          <p:cNvPr id="16" name="Text 13"/>
          <p:cNvSpPr/>
          <p:nvPr/>
        </p:nvSpPr>
        <p:spPr>
          <a:xfrm>
            <a:off x="6126480" y="4636008"/>
            <a:ext cx="2651760" cy="201168"/>
          </a:xfrm>
          <a:prstGeom prst="rect">
            <a:avLst/>
          </a:prstGeom>
          <a:noFill/>
          <a:ln/>
        </p:spPr>
        <p:txBody>
          <a:bodyPr wrap="square" rtlCol="0" anchor="ctr"/>
          <a:lstStyle/>
          <a:p>
            <a:pPr marL="0" indent="0" algn="ctr">
              <a:buNone/>
            </a:pPr>
            <a:r>
              <a:rPr lang="en-US" sz="1000" i="1" dirty="0">
                <a:solidFill>
                  <a:srgbClr val="C7F9F4"/>
                </a:solidFill>
                <a:latin typeface="Aptos" panose="020B0004020202020204" pitchFamily="34" charset="0"/>
                <a:ea typeface="Calibri" pitchFamily="34" charset="-122"/>
                <a:cs typeface="Calibri" pitchFamily="34" charset="-120"/>
              </a:rPr>
              <a:t>Strongest fit</a:t>
            </a:r>
            <a:endParaRPr lang="en-US" sz="1000" dirty="0">
              <a:latin typeface="Aptos" panose="020B00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3200" b="1" dirty="0">
                <a:solidFill>
                  <a:srgbClr val="0D1B2A"/>
                </a:solidFill>
                <a:latin typeface="Aptos" panose="020B0004020202020204" pitchFamily="34" charset="0"/>
                <a:ea typeface="Georgia" pitchFamily="34" charset="-122"/>
                <a:cs typeface="Georgia" pitchFamily="34" charset="-120"/>
              </a:rPr>
              <a:t>Key Predictors</a:t>
            </a:r>
            <a:endParaRPr lang="en-US" sz="3200" dirty="0">
              <a:latin typeface="Aptos" panose="020B0004020202020204" pitchFamily="34" charset="0"/>
            </a:endParaRPr>
          </a:p>
        </p:txBody>
      </p:sp>
      <p:sp>
        <p:nvSpPr>
          <p:cNvPr id="3" name="Shape 1"/>
          <p:cNvSpPr/>
          <p:nvPr/>
        </p:nvSpPr>
        <p:spPr>
          <a:xfrm>
            <a:off x="365760" y="1005840"/>
            <a:ext cx="4114800" cy="3749040"/>
          </a:xfrm>
          <a:prstGeom prst="rect">
            <a:avLst/>
          </a:prstGeom>
          <a:solidFill>
            <a:srgbClr val="0D1B2A"/>
          </a:solidFill>
          <a:ln w="12700">
            <a:solidFill>
              <a:srgbClr val="0D1B2A"/>
            </a:solidFill>
            <a:prstDash val="solid"/>
          </a:ln>
        </p:spPr>
        <p:txBody>
          <a:bodyPr/>
          <a:lstStyle/>
          <a:p>
            <a:endParaRPr lang="en-US">
              <a:latin typeface="Aptos" panose="020B0004020202020204" pitchFamily="34" charset="0"/>
            </a:endParaRPr>
          </a:p>
        </p:txBody>
      </p:sp>
      <p:sp>
        <p:nvSpPr>
          <p:cNvPr id="4" name="Shape 2"/>
          <p:cNvSpPr/>
          <p:nvPr/>
        </p:nvSpPr>
        <p:spPr>
          <a:xfrm>
            <a:off x="365760" y="1005840"/>
            <a:ext cx="4114800" cy="9144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5" name="Text 3"/>
          <p:cNvSpPr/>
          <p:nvPr/>
        </p:nvSpPr>
        <p:spPr>
          <a:xfrm>
            <a:off x="502920" y="1188720"/>
            <a:ext cx="3840480" cy="365760"/>
          </a:xfrm>
          <a:prstGeom prst="rect">
            <a:avLst/>
          </a:prstGeom>
          <a:noFill/>
          <a:ln/>
        </p:spPr>
        <p:txBody>
          <a:bodyPr wrap="square" rtlCol="0" anchor="ctr"/>
          <a:lstStyle/>
          <a:p>
            <a:pPr marL="0" indent="0">
              <a:buNone/>
            </a:pPr>
            <a:r>
              <a:rPr lang="en-US" sz="1200" b="1" kern="0" spc="200" dirty="0">
                <a:solidFill>
                  <a:srgbClr val="00A896"/>
                </a:solidFill>
                <a:latin typeface="Aptos" panose="020B0004020202020204" pitchFamily="34" charset="0"/>
                <a:ea typeface="Calibri" pitchFamily="34" charset="-122"/>
                <a:cs typeface="Calibri" pitchFamily="34" charset="-120"/>
              </a:rPr>
              <a:t>ACUTE CHRONIC RATIO</a:t>
            </a:r>
            <a:endParaRPr lang="en-US" sz="1200" dirty="0">
              <a:latin typeface="Aptos" panose="020B0004020202020204" pitchFamily="34" charset="0"/>
            </a:endParaRPr>
          </a:p>
        </p:txBody>
      </p:sp>
      <p:sp>
        <p:nvSpPr>
          <p:cNvPr id="6" name="Text 4"/>
          <p:cNvSpPr/>
          <p:nvPr/>
        </p:nvSpPr>
        <p:spPr>
          <a:xfrm>
            <a:off x="502920" y="1572768"/>
            <a:ext cx="3840480" cy="365760"/>
          </a:xfrm>
          <a:prstGeom prst="rect">
            <a:avLst/>
          </a:prstGeom>
          <a:noFill/>
          <a:ln/>
        </p:spPr>
        <p:txBody>
          <a:bodyPr wrap="square" rtlCol="0" anchor="ctr"/>
          <a:lstStyle/>
          <a:p>
            <a:pPr marL="0" indent="0">
              <a:buNone/>
            </a:pPr>
            <a:r>
              <a:rPr lang="en-US" sz="1700" b="1" dirty="0">
                <a:solidFill>
                  <a:srgbClr val="FFFFFF"/>
                </a:solidFill>
                <a:latin typeface="Aptos" panose="020B0004020202020204" pitchFamily="34" charset="0"/>
                <a:ea typeface="Georgia" pitchFamily="34" charset="-122"/>
                <a:cs typeface="Georgia" pitchFamily="34" charset="-120"/>
              </a:rPr>
              <a:t>Most Consistent Predictor</a:t>
            </a:r>
            <a:endParaRPr lang="en-US" sz="1700" dirty="0">
              <a:latin typeface="Aptos" panose="020B0004020202020204" pitchFamily="34" charset="0"/>
            </a:endParaRPr>
          </a:p>
        </p:txBody>
      </p:sp>
      <p:sp>
        <p:nvSpPr>
          <p:cNvPr id="7" name="Text 5"/>
          <p:cNvSpPr/>
          <p:nvPr/>
        </p:nvSpPr>
        <p:spPr>
          <a:xfrm>
            <a:off x="502920" y="2029968"/>
            <a:ext cx="3840480" cy="1828800"/>
          </a:xfrm>
          <a:prstGeom prst="rect">
            <a:avLst/>
          </a:prstGeom>
          <a:noFill/>
          <a:ln/>
        </p:spPr>
        <p:txBody>
          <a:bodyPr wrap="square" rtlCol="0" anchor="ctr"/>
          <a:lstStyle/>
          <a:p>
            <a:pPr marL="0" indent="0">
              <a:buNone/>
            </a:pPr>
            <a:r>
              <a:rPr lang="en-US" sz="1300" dirty="0">
                <a:solidFill>
                  <a:srgbClr val="CBD5E1"/>
                </a:solidFill>
                <a:latin typeface="Aptos" panose="020B0004020202020204" pitchFamily="34" charset="0"/>
                <a:ea typeface="Calibri" pitchFamily="34" charset="-122"/>
                <a:cs typeface="Calibri" pitchFamily="34" charset="-120"/>
              </a:rPr>
              <a:t>The ACR was significant across all three models: Fatigue, Monitoring Score, and Training Readiness. It captures the balance between recent and longer-term workload, making it a reliable signal of athlete condition.</a:t>
            </a:r>
            <a:endParaRPr lang="en-US" sz="1300" dirty="0">
              <a:latin typeface="Aptos" panose="020B0004020202020204" pitchFamily="34" charset="0"/>
            </a:endParaRPr>
          </a:p>
        </p:txBody>
      </p:sp>
      <p:sp>
        <p:nvSpPr>
          <p:cNvPr id="8" name="Text 6"/>
          <p:cNvSpPr/>
          <p:nvPr/>
        </p:nvSpPr>
        <p:spPr>
          <a:xfrm>
            <a:off x="502920" y="3931920"/>
            <a:ext cx="3840480" cy="502920"/>
          </a:xfrm>
          <a:prstGeom prst="rect">
            <a:avLst/>
          </a:prstGeom>
          <a:noFill/>
          <a:ln/>
        </p:spPr>
        <p:txBody>
          <a:bodyPr wrap="square" rtlCol="0" anchor="ctr"/>
          <a:lstStyle/>
          <a:p>
            <a:pPr marL="0" indent="0">
              <a:buNone/>
            </a:pPr>
            <a:r>
              <a:rPr lang="en-US" sz="1200" i="1" dirty="0">
                <a:solidFill>
                  <a:srgbClr val="00A896"/>
                </a:solidFill>
                <a:latin typeface="Aptos" panose="020B0004020202020204" pitchFamily="34" charset="0"/>
                <a:ea typeface="Calibri" pitchFamily="34" charset="-122"/>
                <a:cs typeface="Calibri" pitchFamily="34" charset="-120"/>
              </a:rPr>
              <a:t>Acute Load / Chronic Load</a:t>
            </a:r>
            <a:endParaRPr lang="en-US" sz="1200" dirty="0">
              <a:latin typeface="Aptos" panose="020B0004020202020204" pitchFamily="34" charset="0"/>
            </a:endParaRPr>
          </a:p>
        </p:txBody>
      </p:sp>
      <p:sp>
        <p:nvSpPr>
          <p:cNvPr id="9" name="Shape 7"/>
          <p:cNvSpPr/>
          <p:nvPr/>
        </p:nvSpPr>
        <p:spPr>
          <a:xfrm>
            <a:off x="4663440" y="1005840"/>
            <a:ext cx="4114800" cy="3749040"/>
          </a:xfrm>
          <a:prstGeom prst="rect">
            <a:avLst/>
          </a:prstGeom>
          <a:solidFill>
            <a:srgbClr val="FFFFFF"/>
          </a:solidFill>
          <a:ln w="12700">
            <a:solidFill>
              <a:srgbClr val="CBD5E1"/>
            </a:solidFill>
            <a:prstDash val="solid"/>
          </a:ln>
        </p:spPr>
        <p:txBody>
          <a:bodyPr/>
          <a:lstStyle/>
          <a:p>
            <a:endParaRPr lang="en-US">
              <a:latin typeface="Aptos" panose="020B0004020202020204" pitchFamily="34" charset="0"/>
            </a:endParaRPr>
          </a:p>
        </p:txBody>
      </p:sp>
      <p:sp>
        <p:nvSpPr>
          <p:cNvPr id="10" name="Shape 8"/>
          <p:cNvSpPr/>
          <p:nvPr/>
        </p:nvSpPr>
        <p:spPr>
          <a:xfrm>
            <a:off x="4663440" y="1005840"/>
            <a:ext cx="4114800" cy="91440"/>
          </a:xfrm>
          <a:prstGeom prst="rect">
            <a:avLst/>
          </a:prstGeom>
          <a:solidFill>
            <a:srgbClr val="F5A623"/>
          </a:solidFill>
          <a:ln w="12700">
            <a:solidFill>
              <a:srgbClr val="F5A623"/>
            </a:solidFill>
            <a:prstDash val="solid"/>
          </a:ln>
        </p:spPr>
        <p:txBody>
          <a:bodyPr/>
          <a:lstStyle/>
          <a:p>
            <a:endParaRPr lang="en-US">
              <a:latin typeface="Aptos" panose="020B0004020202020204" pitchFamily="34" charset="0"/>
            </a:endParaRPr>
          </a:p>
        </p:txBody>
      </p:sp>
      <p:sp>
        <p:nvSpPr>
          <p:cNvPr id="11" name="Text 9"/>
          <p:cNvSpPr/>
          <p:nvPr/>
        </p:nvSpPr>
        <p:spPr>
          <a:xfrm>
            <a:off x="4800600" y="1188720"/>
            <a:ext cx="3840480" cy="365760"/>
          </a:xfrm>
          <a:prstGeom prst="rect">
            <a:avLst/>
          </a:prstGeom>
          <a:noFill/>
          <a:ln/>
        </p:spPr>
        <p:txBody>
          <a:bodyPr wrap="square" rtlCol="0" anchor="ctr"/>
          <a:lstStyle/>
          <a:p>
            <a:pPr marL="0" indent="0">
              <a:buNone/>
            </a:pPr>
            <a:r>
              <a:rPr lang="en-US" sz="1200" b="1" kern="0" spc="200" dirty="0">
                <a:solidFill>
                  <a:srgbClr val="B8860B"/>
                </a:solidFill>
                <a:latin typeface="Aptos" panose="020B0004020202020204" pitchFamily="34" charset="0"/>
                <a:ea typeface="Calibri" pitchFamily="34" charset="-122"/>
                <a:cs typeface="Calibri" pitchFamily="34" charset="-120"/>
              </a:rPr>
              <a:t>GAME DAY STATUS</a:t>
            </a:r>
            <a:endParaRPr lang="en-US" sz="1200" dirty="0">
              <a:latin typeface="Aptos" panose="020B0004020202020204" pitchFamily="34" charset="0"/>
            </a:endParaRPr>
          </a:p>
        </p:txBody>
      </p:sp>
      <p:sp>
        <p:nvSpPr>
          <p:cNvPr id="12" name="Text 10"/>
          <p:cNvSpPr/>
          <p:nvPr/>
        </p:nvSpPr>
        <p:spPr>
          <a:xfrm>
            <a:off x="4800600" y="1572768"/>
            <a:ext cx="3840480" cy="365760"/>
          </a:xfrm>
          <a:prstGeom prst="rect">
            <a:avLst/>
          </a:prstGeom>
          <a:noFill/>
          <a:ln/>
        </p:spPr>
        <p:txBody>
          <a:bodyPr wrap="square" rtlCol="0" anchor="ctr"/>
          <a:lstStyle/>
          <a:p>
            <a:pPr marL="0" indent="0">
              <a:buNone/>
            </a:pPr>
            <a:r>
              <a:rPr lang="en-US" sz="1700" b="1" dirty="0">
                <a:solidFill>
                  <a:srgbClr val="0D1B2A"/>
                </a:solidFill>
                <a:latin typeface="Aptos" panose="020B0004020202020204" pitchFamily="34" charset="0"/>
                <a:ea typeface="Georgia" pitchFamily="34" charset="-122"/>
                <a:cs typeface="Georgia" pitchFamily="34" charset="-120"/>
              </a:rPr>
              <a:t>Significant Across Models</a:t>
            </a:r>
            <a:endParaRPr lang="en-US" sz="1700" dirty="0">
              <a:latin typeface="Aptos" panose="020B0004020202020204" pitchFamily="34" charset="0"/>
            </a:endParaRPr>
          </a:p>
        </p:txBody>
      </p:sp>
      <p:sp>
        <p:nvSpPr>
          <p:cNvPr id="13" name="Text 11"/>
          <p:cNvSpPr/>
          <p:nvPr/>
        </p:nvSpPr>
        <p:spPr>
          <a:xfrm>
            <a:off x="4800600" y="2029968"/>
            <a:ext cx="3840480" cy="1828800"/>
          </a:xfrm>
          <a:prstGeom prst="rect">
            <a:avLst/>
          </a:prstGeom>
          <a:noFill/>
          <a:ln/>
        </p:spPr>
        <p:txBody>
          <a:bodyPr wrap="square" rtlCol="0" anchor="ctr"/>
          <a:lstStyle/>
          <a:p>
            <a:pPr marL="0" indent="0">
              <a:buNone/>
            </a:pPr>
            <a:r>
              <a:rPr lang="en-US" sz="1300" dirty="0">
                <a:solidFill>
                  <a:srgbClr val="64748B"/>
                </a:solidFill>
                <a:latin typeface="Aptos" panose="020B0004020202020204" pitchFamily="34" charset="0"/>
                <a:ea typeface="Calibri" pitchFamily="34" charset="-122"/>
                <a:cs typeface="Calibri" pitchFamily="34" charset="-120"/>
              </a:rPr>
              <a:t>Game day was significant in all three models. Readiness was slightly higher on game days, consistent with athletes being primed to compete. The relationship was not simply that more load leads to worse outcomes.</a:t>
            </a:r>
            <a:endParaRPr lang="en-US" sz="1300" dirty="0">
              <a:latin typeface="Aptos" panose="020B0004020202020204" pitchFamily="34" charset="0"/>
            </a:endParaRPr>
          </a:p>
        </p:txBody>
      </p:sp>
      <p:sp>
        <p:nvSpPr>
          <p:cNvPr id="14" name="Text 12"/>
          <p:cNvSpPr/>
          <p:nvPr/>
        </p:nvSpPr>
        <p:spPr>
          <a:xfrm>
            <a:off x="4800600" y="3931920"/>
            <a:ext cx="3840480" cy="502920"/>
          </a:xfrm>
          <a:prstGeom prst="rect">
            <a:avLst/>
          </a:prstGeom>
          <a:noFill/>
          <a:ln/>
        </p:spPr>
        <p:txBody>
          <a:bodyPr wrap="square" rtlCol="0" anchor="ctr"/>
          <a:lstStyle/>
          <a:p>
            <a:pPr marL="0" indent="0">
              <a:buNone/>
            </a:pPr>
            <a:r>
              <a:rPr lang="en-US" sz="1200" i="1" dirty="0">
                <a:solidFill>
                  <a:srgbClr val="64748B"/>
                </a:solidFill>
                <a:latin typeface="Aptos" panose="020B0004020202020204" pitchFamily="34" charset="0"/>
                <a:ea typeface="Calibri" pitchFamily="34" charset="-122"/>
                <a:cs typeface="Calibri" pitchFamily="34" charset="-120"/>
              </a:rPr>
              <a:t>0 = No Game Day  |  1 = Game Day</a:t>
            </a:r>
            <a:endParaRPr lang="en-US" sz="1200" dirty="0">
              <a:latin typeface="Aptos" panose="020B00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2800" b="1" dirty="0">
                <a:solidFill>
                  <a:srgbClr val="0D1B2A"/>
                </a:solidFill>
                <a:latin typeface="Aptos" panose="020B0004020202020204" pitchFamily="34" charset="0"/>
                <a:ea typeface="Georgia" pitchFamily="34" charset="-122"/>
                <a:cs typeface="Georgia" pitchFamily="34" charset="-120"/>
              </a:rPr>
              <a:t>Game Day and Training Readiness</a:t>
            </a:r>
            <a:endParaRPr lang="en-US" sz="2800" dirty="0">
              <a:latin typeface="Aptos" panose="020B0004020202020204" pitchFamily="34" charset="0"/>
            </a:endParaRPr>
          </a:p>
        </p:txBody>
      </p:sp>
      <p:sp>
        <p:nvSpPr>
          <p:cNvPr id="3" name="Text 1"/>
          <p:cNvSpPr/>
          <p:nvPr/>
        </p:nvSpPr>
        <p:spPr>
          <a:xfrm>
            <a:off x="457200" y="914400"/>
            <a:ext cx="8321040" cy="411480"/>
          </a:xfrm>
          <a:prstGeom prst="rect">
            <a:avLst/>
          </a:prstGeom>
          <a:noFill/>
          <a:ln/>
        </p:spPr>
        <p:txBody>
          <a:bodyPr wrap="square" rtlCol="0" anchor="ctr"/>
          <a:lstStyle/>
          <a:p>
            <a:pPr marL="0" indent="0">
              <a:buNone/>
            </a:pPr>
            <a:r>
              <a:rPr lang="en-US" sz="1400" i="1" dirty="0">
                <a:solidFill>
                  <a:srgbClr val="64748B"/>
                </a:solidFill>
                <a:latin typeface="Aptos" panose="020B0004020202020204" pitchFamily="34" charset="0"/>
                <a:ea typeface="Calibri" pitchFamily="34" charset="-122"/>
                <a:cs typeface="Calibri" pitchFamily="34" charset="-120"/>
              </a:rPr>
              <a:t>Readiness was slightly higher on game days, consistent with the positive game-day coefficient in the regression model.</a:t>
            </a:r>
            <a:endParaRPr lang="en-US" sz="1400" dirty="0">
              <a:latin typeface="Aptos" panose="020B0004020202020204" pitchFamily="34" charset="0"/>
            </a:endParaRPr>
          </a:p>
        </p:txBody>
      </p:sp>
      <p:graphicFrame>
        <p:nvGraphicFramePr>
          <p:cNvPr id="4" name="Chart 0"/>
          <p:cNvGraphicFramePr/>
          <p:nvPr>
            <p:extLst>
              <p:ext uri="{D42A27DB-BD31-4B8C-83A1-F6EECF244321}">
                <p14:modId xmlns:p14="http://schemas.microsoft.com/office/powerpoint/2010/main" val="96435093"/>
              </p:ext>
            </p:extLst>
          </p:nvPr>
        </p:nvGraphicFramePr>
        <p:xfrm>
          <a:off x="457200" y="1417320"/>
          <a:ext cx="50292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669280" y="1417320"/>
            <a:ext cx="3108960" cy="3291840"/>
          </a:xfrm>
          <a:prstGeom prst="rect">
            <a:avLst/>
          </a:prstGeom>
          <a:solidFill>
            <a:srgbClr val="0D1B2A"/>
          </a:solidFill>
          <a:ln w="12700">
            <a:solidFill>
              <a:srgbClr val="0D1B2A"/>
            </a:solidFill>
            <a:prstDash val="solid"/>
          </a:ln>
        </p:spPr>
        <p:txBody>
          <a:bodyPr/>
          <a:lstStyle/>
          <a:p>
            <a:endParaRPr lang="en-US">
              <a:latin typeface="Aptos" panose="020B0004020202020204" pitchFamily="34" charset="0"/>
            </a:endParaRPr>
          </a:p>
        </p:txBody>
      </p:sp>
      <p:sp>
        <p:nvSpPr>
          <p:cNvPr id="6" name="Text 3"/>
          <p:cNvSpPr/>
          <p:nvPr/>
        </p:nvSpPr>
        <p:spPr>
          <a:xfrm>
            <a:off x="5806440" y="1554480"/>
            <a:ext cx="2834640" cy="320040"/>
          </a:xfrm>
          <a:prstGeom prst="rect">
            <a:avLst/>
          </a:prstGeom>
          <a:noFill/>
          <a:ln/>
        </p:spPr>
        <p:txBody>
          <a:bodyPr wrap="square" rtlCol="0" anchor="ctr"/>
          <a:lstStyle/>
          <a:p>
            <a:pPr marL="0" indent="0">
              <a:buNone/>
            </a:pPr>
            <a:r>
              <a:rPr lang="en-US" sz="1000" b="1" kern="0" spc="300" dirty="0">
                <a:solidFill>
                  <a:srgbClr val="00A896"/>
                </a:solidFill>
                <a:latin typeface="Aptos" panose="020B0004020202020204" pitchFamily="34" charset="0"/>
                <a:ea typeface="Calibri" pitchFamily="34" charset="-122"/>
                <a:cs typeface="Calibri" pitchFamily="34" charset="-120"/>
              </a:rPr>
              <a:t>KEY INSIGHT</a:t>
            </a:r>
            <a:endParaRPr lang="en-US" sz="1000" dirty="0">
              <a:latin typeface="Aptos" panose="020B0004020202020204" pitchFamily="34" charset="0"/>
            </a:endParaRPr>
          </a:p>
        </p:txBody>
      </p:sp>
      <p:sp>
        <p:nvSpPr>
          <p:cNvPr id="7" name="Shape 4"/>
          <p:cNvSpPr/>
          <p:nvPr/>
        </p:nvSpPr>
        <p:spPr>
          <a:xfrm>
            <a:off x="5806440" y="1965960"/>
            <a:ext cx="201168" cy="201168"/>
          </a:xfrm>
          <a:prstGeom prst="ellipse">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8" name="Text 5"/>
          <p:cNvSpPr/>
          <p:nvPr/>
        </p:nvSpPr>
        <p:spPr>
          <a:xfrm>
            <a:off x="6080760" y="1947672"/>
            <a:ext cx="2560320" cy="731520"/>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Athletes reported higher readiness on game days compared to training days.</a:t>
            </a:r>
            <a:endParaRPr lang="en-US" sz="1200" dirty="0">
              <a:latin typeface="Aptos" panose="020B0004020202020204" pitchFamily="34" charset="0"/>
            </a:endParaRPr>
          </a:p>
        </p:txBody>
      </p:sp>
      <p:sp>
        <p:nvSpPr>
          <p:cNvPr id="9" name="Shape 6"/>
          <p:cNvSpPr/>
          <p:nvPr/>
        </p:nvSpPr>
        <p:spPr>
          <a:xfrm>
            <a:off x="5806440" y="2834640"/>
            <a:ext cx="201168" cy="201168"/>
          </a:xfrm>
          <a:prstGeom prst="ellipse">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10" name="Text 7"/>
          <p:cNvSpPr/>
          <p:nvPr/>
        </p:nvSpPr>
        <p:spPr>
          <a:xfrm>
            <a:off x="6080760" y="2816352"/>
            <a:ext cx="2560320" cy="731520"/>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Acute load showed a slight negative relationship with fatigue and monitoring score in exploratory plots.</a:t>
            </a:r>
            <a:endParaRPr lang="en-US" sz="1200" dirty="0">
              <a:latin typeface="Aptos" panose="020B0004020202020204" pitchFamily="34" charset="0"/>
            </a:endParaRPr>
          </a:p>
        </p:txBody>
      </p:sp>
      <p:sp>
        <p:nvSpPr>
          <p:cNvPr id="11" name="Shape 8"/>
          <p:cNvSpPr/>
          <p:nvPr/>
        </p:nvSpPr>
        <p:spPr>
          <a:xfrm>
            <a:off x="5806440" y="3703320"/>
            <a:ext cx="201168" cy="201168"/>
          </a:xfrm>
          <a:prstGeom prst="ellipse">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12" name="Text 9"/>
          <p:cNvSpPr/>
          <p:nvPr/>
        </p:nvSpPr>
        <p:spPr>
          <a:xfrm>
            <a:off x="6080760" y="3685032"/>
            <a:ext cx="2560320" cy="731520"/>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More workload does not always mean worse wellness outcomes; the direction depends on the metric.</a:t>
            </a:r>
            <a:endParaRPr lang="en-US" sz="1200" dirty="0">
              <a:latin typeface="Aptos"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3" name="Text 1"/>
          <p:cNvSpPr/>
          <p:nvPr/>
        </p:nvSpPr>
        <p:spPr>
          <a:xfrm>
            <a:off x="365760" y="274320"/>
            <a:ext cx="8412480" cy="594360"/>
          </a:xfrm>
          <a:prstGeom prst="rect">
            <a:avLst/>
          </a:prstGeom>
          <a:noFill/>
          <a:ln/>
        </p:spPr>
        <p:txBody>
          <a:bodyPr wrap="square" rtlCol="0" anchor="ctr"/>
          <a:lstStyle/>
          <a:p>
            <a:pPr marL="0" indent="0">
              <a:buNone/>
            </a:pPr>
            <a:r>
              <a:rPr lang="en-US" sz="3000" b="1" dirty="0">
                <a:solidFill>
                  <a:srgbClr val="FFFFFF"/>
                </a:solidFill>
                <a:latin typeface="Aptos" panose="020B0004020202020204" pitchFamily="34" charset="0"/>
                <a:ea typeface="Georgia" pitchFamily="34" charset="-122"/>
                <a:cs typeface="Georgia" pitchFamily="34" charset="-120"/>
              </a:rPr>
              <a:t>Discussion and Conclusion</a:t>
            </a:r>
            <a:endParaRPr lang="en-US" sz="3000" dirty="0">
              <a:latin typeface="Aptos" panose="020B0004020202020204" pitchFamily="34" charset="0"/>
            </a:endParaRPr>
          </a:p>
        </p:txBody>
      </p:sp>
      <p:sp>
        <p:nvSpPr>
          <p:cNvPr id="4" name="Shape 2"/>
          <p:cNvSpPr/>
          <p:nvPr/>
        </p:nvSpPr>
        <p:spPr>
          <a:xfrm>
            <a:off x="365760" y="1005840"/>
            <a:ext cx="54864" cy="68580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5" name="Text 3"/>
          <p:cNvSpPr/>
          <p:nvPr/>
        </p:nvSpPr>
        <p:spPr>
          <a:xfrm>
            <a:off x="548640" y="1024128"/>
            <a:ext cx="8229600" cy="292608"/>
          </a:xfrm>
          <a:prstGeom prst="rect">
            <a:avLst/>
          </a:prstGeom>
          <a:noFill/>
          <a:ln/>
        </p:spPr>
        <p:txBody>
          <a:bodyPr wrap="square" rtlCol="0" anchor="ctr"/>
          <a:lstStyle/>
          <a:p>
            <a:pPr marL="0" indent="0">
              <a:buNone/>
            </a:pPr>
            <a:r>
              <a:rPr lang="en-US" sz="1400" b="1" dirty="0">
                <a:solidFill>
                  <a:srgbClr val="FFFFFF"/>
                </a:solidFill>
                <a:latin typeface="Aptos" panose="020B0004020202020204" pitchFamily="34" charset="0"/>
                <a:ea typeface="Calibri" pitchFamily="34" charset="-122"/>
                <a:cs typeface="Calibri" pitchFamily="34" charset="-120"/>
              </a:rPr>
              <a:t>Workload and Wellness Are Connected</a:t>
            </a:r>
            <a:endParaRPr lang="en-US" sz="1400" dirty="0">
              <a:latin typeface="Aptos" panose="020B0004020202020204" pitchFamily="34" charset="0"/>
            </a:endParaRPr>
          </a:p>
        </p:txBody>
      </p:sp>
      <p:sp>
        <p:nvSpPr>
          <p:cNvPr id="6" name="Text 4"/>
          <p:cNvSpPr/>
          <p:nvPr/>
        </p:nvSpPr>
        <p:spPr>
          <a:xfrm>
            <a:off x="548640" y="1353312"/>
            <a:ext cx="8229600" cy="347472"/>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All three models confirmed that workload metrics were meaningfully associated with player wellness, though the strength and direction varied by outcome.</a:t>
            </a:r>
            <a:endParaRPr lang="en-US" sz="1200" dirty="0">
              <a:latin typeface="Aptos" panose="020B0004020202020204" pitchFamily="34" charset="0"/>
            </a:endParaRPr>
          </a:p>
        </p:txBody>
      </p:sp>
      <p:sp>
        <p:nvSpPr>
          <p:cNvPr id="7" name="Shape 5"/>
          <p:cNvSpPr/>
          <p:nvPr/>
        </p:nvSpPr>
        <p:spPr>
          <a:xfrm>
            <a:off x="365760" y="1965960"/>
            <a:ext cx="54864" cy="68580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8" name="Text 6"/>
          <p:cNvSpPr/>
          <p:nvPr/>
        </p:nvSpPr>
        <p:spPr>
          <a:xfrm>
            <a:off x="548640" y="1984248"/>
            <a:ext cx="8229600" cy="292608"/>
          </a:xfrm>
          <a:prstGeom prst="rect">
            <a:avLst/>
          </a:prstGeom>
          <a:noFill/>
          <a:ln/>
        </p:spPr>
        <p:txBody>
          <a:bodyPr wrap="square" rtlCol="0" anchor="ctr"/>
          <a:lstStyle/>
          <a:p>
            <a:pPr marL="0" indent="0">
              <a:buNone/>
            </a:pPr>
            <a:r>
              <a:rPr lang="en-US" sz="1400" b="1" dirty="0">
                <a:solidFill>
                  <a:srgbClr val="FFFFFF"/>
                </a:solidFill>
                <a:latin typeface="Aptos" panose="020B0004020202020204" pitchFamily="34" charset="0"/>
                <a:ea typeface="Calibri" pitchFamily="34" charset="-122"/>
                <a:cs typeface="Calibri" pitchFamily="34" charset="-120"/>
              </a:rPr>
              <a:t>Training Readiness Was the Strongest Outcome</a:t>
            </a:r>
            <a:endParaRPr lang="en-US" sz="1400" dirty="0">
              <a:latin typeface="Aptos" panose="020B0004020202020204" pitchFamily="34" charset="0"/>
            </a:endParaRPr>
          </a:p>
        </p:txBody>
      </p:sp>
      <p:sp>
        <p:nvSpPr>
          <p:cNvPr id="9" name="Text 7"/>
          <p:cNvSpPr/>
          <p:nvPr/>
        </p:nvSpPr>
        <p:spPr>
          <a:xfrm>
            <a:off x="548640" y="2313432"/>
            <a:ext cx="8229600" cy="347472"/>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With an R squared of 0.54, training readiness was best explained by the included predictors, making it a strong candidate for routine monitoring.</a:t>
            </a:r>
            <a:endParaRPr lang="en-US" sz="1200" dirty="0">
              <a:latin typeface="Aptos" panose="020B0004020202020204" pitchFamily="34" charset="0"/>
            </a:endParaRPr>
          </a:p>
        </p:txBody>
      </p:sp>
      <p:sp>
        <p:nvSpPr>
          <p:cNvPr id="10" name="Shape 8"/>
          <p:cNvSpPr/>
          <p:nvPr/>
        </p:nvSpPr>
        <p:spPr>
          <a:xfrm>
            <a:off x="365760" y="2926080"/>
            <a:ext cx="54864" cy="68580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11" name="Text 9"/>
          <p:cNvSpPr/>
          <p:nvPr/>
        </p:nvSpPr>
        <p:spPr>
          <a:xfrm>
            <a:off x="548640" y="2944368"/>
            <a:ext cx="8229600" cy="292608"/>
          </a:xfrm>
          <a:prstGeom prst="rect">
            <a:avLst/>
          </a:prstGeom>
          <a:noFill/>
          <a:ln/>
        </p:spPr>
        <p:txBody>
          <a:bodyPr wrap="square" rtlCol="0" anchor="ctr"/>
          <a:lstStyle/>
          <a:p>
            <a:pPr marL="0" indent="0">
              <a:buNone/>
            </a:pPr>
            <a:r>
              <a:rPr lang="en-US" sz="1400" b="1" dirty="0">
                <a:solidFill>
                  <a:srgbClr val="FFFFFF"/>
                </a:solidFill>
                <a:latin typeface="Aptos" panose="020B0004020202020204" pitchFamily="34" charset="0"/>
                <a:ea typeface="Calibri" pitchFamily="34" charset="-122"/>
                <a:cs typeface="Calibri" pitchFamily="34" charset="-120"/>
              </a:rPr>
              <a:t>ACR and Game Day Status Were Most Informative</a:t>
            </a:r>
            <a:endParaRPr lang="en-US" sz="1400" dirty="0">
              <a:latin typeface="Aptos" panose="020B0004020202020204" pitchFamily="34" charset="0"/>
            </a:endParaRPr>
          </a:p>
        </p:txBody>
      </p:sp>
      <p:sp>
        <p:nvSpPr>
          <p:cNvPr id="12" name="Text 10"/>
          <p:cNvSpPr/>
          <p:nvPr/>
        </p:nvSpPr>
        <p:spPr>
          <a:xfrm>
            <a:off x="548640" y="3273552"/>
            <a:ext cx="8229600" cy="347472"/>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These two predictors were consistently significant across all models, suggesting that load balance and game schedule are critical contextual variables.</a:t>
            </a:r>
            <a:endParaRPr lang="en-US" sz="1200" dirty="0">
              <a:latin typeface="Aptos" panose="020B0004020202020204" pitchFamily="34" charset="0"/>
            </a:endParaRPr>
          </a:p>
        </p:txBody>
      </p:sp>
      <p:sp>
        <p:nvSpPr>
          <p:cNvPr id="13" name="Shape 11"/>
          <p:cNvSpPr/>
          <p:nvPr/>
        </p:nvSpPr>
        <p:spPr>
          <a:xfrm>
            <a:off x="365760" y="3886200"/>
            <a:ext cx="54864" cy="685800"/>
          </a:xfrm>
          <a:prstGeom prst="rect">
            <a:avLst/>
          </a:prstGeom>
          <a:solidFill>
            <a:srgbClr val="00A896"/>
          </a:solidFill>
          <a:ln w="12700">
            <a:solidFill>
              <a:srgbClr val="00A896"/>
            </a:solidFill>
            <a:prstDash val="solid"/>
          </a:ln>
        </p:spPr>
        <p:txBody>
          <a:bodyPr/>
          <a:lstStyle/>
          <a:p>
            <a:endParaRPr lang="en-US">
              <a:latin typeface="Aptos" panose="020B0004020202020204" pitchFamily="34" charset="0"/>
            </a:endParaRPr>
          </a:p>
        </p:txBody>
      </p:sp>
      <p:sp>
        <p:nvSpPr>
          <p:cNvPr id="14" name="Text 12"/>
          <p:cNvSpPr/>
          <p:nvPr/>
        </p:nvSpPr>
        <p:spPr>
          <a:xfrm>
            <a:off x="548640" y="3904488"/>
            <a:ext cx="8229600" cy="292608"/>
          </a:xfrm>
          <a:prstGeom prst="rect">
            <a:avLst/>
          </a:prstGeom>
          <a:noFill/>
          <a:ln/>
        </p:spPr>
        <p:txBody>
          <a:bodyPr wrap="square" rtlCol="0" anchor="ctr"/>
          <a:lstStyle/>
          <a:p>
            <a:pPr marL="0" indent="0">
              <a:buNone/>
            </a:pPr>
            <a:r>
              <a:rPr lang="en-US" sz="1400" b="1" dirty="0">
                <a:solidFill>
                  <a:srgbClr val="FFFFFF"/>
                </a:solidFill>
                <a:latin typeface="Aptos" panose="020B0004020202020204" pitchFamily="34" charset="0"/>
                <a:ea typeface="Calibri" pitchFamily="34" charset="-122"/>
                <a:cs typeface="Calibri" pitchFamily="34" charset="-120"/>
              </a:rPr>
              <a:t>The Relationship Is Complex</a:t>
            </a:r>
            <a:endParaRPr lang="en-US" sz="1400" dirty="0">
              <a:latin typeface="Aptos" panose="020B0004020202020204" pitchFamily="34" charset="0"/>
            </a:endParaRPr>
          </a:p>
        </p:txBody>
      </p:sp>
      <p:sp>
        <p:nvSpPr>
          <p:cNvPr id="15" name="Text 13"/>
          <p:cNvSpPr/>
          <p:nvPr/>
        </p:nvSpPr>
        <p:spPr>
          <a:xfrm>
            <a:off x="548640" y="4233672"/>
            <a:ext cx="8229600" cy="347472"/>
          </a:xfrm>
          <a:prstGeom prst="rect">
            <a:avLst/>
          </a:prstGeom>
          <a:noFill/>
          <a:ln/>
        </p:spPr>
        <p:txBody>
          <a:bodyPr wrap="square" rtlCol="0" anchor="ctr"/>
          <a:lstStyle/>
          <a:p>
            <a:pPr marL="0" indent="0">
              <a:buNone/>
            </a:pPr>
            <a:r>
              <a:rPr lang="en-US" sz="1200" dirty="0">
                <a:solidFill>
                  <a:srgbClr val="CBD5E1"/>
                </a:solidFill>
                <a:latin typeface="Aptos" panose="020B0004020202020204" pitchFamily="34" charset="0"/>
                <a:ea typeface="Calibri" pitchFamily="34" charset="-122"/>
                <a:cs typeface="Calibri" pitchFamily="34" charset="-120"/>
              </a:rPr>
              <a:t>Fatigue and monitoring score behaved differently from readiness, indicating that these outcomes may reflect distinct dimensions of athlete condition.</a:t>
            </a:r>
            <a:endParaRPr lang="en-US" sz="1200" dirty="0">
              <a:latin typeface="Aptos" panose="020B0004020202020204" pitchFamily="34" charset="0"/>
            </a:endParaRPr>
          </a:p>
        </p:txBody>
      </p:sp>
      <p:sp>
        <p:nvSpPr>
          <p:cNvPr id="16" name="Shape 14"/>
          <p:cNvSpPr/>
          <p:nvPr/>
        </p:nvSpPr>
        <p:spPr>
          <a:xfrm>
            <a:off x="365760" y="4709160"/>
            <a:ext cx="8412480" cy="201168"/>
          </a:xfrm>
          <a:prstGeom prst="rect">
            <a:avLst/>
          </a:prstGeom>
          <a:solidFill>
            <a:srgbClr val="1C3A52"/>
          </a:solidFill>
          <a:ln w="12700">
            <a:solidFill>
              <a:srgbClr val="1C3A52"/>
            </a:solidFill>
            <a:prstDash val="solid"/>
          </a:ln>
        </p:spPr>
        <p:txBody>
          <a:bodyPr/>
          <a:lstStyle/>
          <a:p>
            <a:endParaRPr lang="en-US">
              <a:latin typeface="Aptos" panose="020B0004020202020204" pitchFamily="34" charset="0"/>
            </a:endParaRPr>
          </a:p>
        </p:txBody>
      </p:sp>
      <p:sp>
        <p:nvSpPr>
          <p:cNvPr id="17" name="Text 15"/>
          <p:cNvSpPr/>
          <p:nvPr/>
        </p:nvSpPr>
        <p:spPr>
          <a:xfrm>
            <a:off x="365760" y="4727448"/>
            <a:ext cx="8412480" cy="182880"/>
          </a:xfrm>
          <a:prstGeom prst="rect">
            <a:avLst/>
          </a:prstGeom>
          <a:noFill/>
          <a:ln/>
        </p:spPr>
        <p:txBody>
          <a:bodyPr wrap="square" rtlCol="0" anchor="ctr"/>
          <a:lstStyle/>
          <a:p>
            <a:pPr marL="0" indent="0" algn="ctr">
              <a:buNone/>
            </a:pPr>
            <a:r>
              <a:rPr lang="en-US" sz="900" b="1" dirty="0">
                <a:solidFill>
                  <a:schemeClr val="bg1"/>
                </a:solidFill>
                <a:latin typeface="Aptos" panose="020B0004020202020204" pitchFamily="34" charset="0"/>
                <a:ea typeface="Calibri" pitchFamily="34" charset="-122"/>
                <a:cs typeface="Calibri" pitchFamily="34" charset="-120"/>
                <a:hlinkClick r:id="rId3"/>
              </a:rPr>
              <a:t>github.com/ssyht/</a:t>
            </a:r>
            <a:r>
              <a:rPr lang="en-US" sz="900" b="1" dirty="0" err="1">
                <a:solidFill>
                  <a:schemeClr val="bg1"/>
                </a:solidFill>
                <a:latin typeface="Aptos" panose="020B0004020202020204" pitchFamily="34" charset="0"/>
                <a:ea typeface="Calibri" pitchFamily="34" charset="-122"/>
                <a:cs typeface="Calibri" pitchFamily="34" charset="-120"/>
                <a:hlinkClick r:id="rId3"/>
              </a:rPr>
              <a:t>BigDataAnalysis-FinalProject</a:t>
            </a:r>
            <a:endParaRPr lang="en-US" sz="900" b="1" dirty="0">
              <a:solidFill>
                <a:schemeClr val="bg1"/>
              </a:solidFill>
              <a:latin typeface="Aptos" panose="020B00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282117" y="-190252"/>
            <a:ext cx="1370728" cy="1032741"/>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668730" y="316609"/>
            <a:ext cx="484026" cy="484026"/>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7532611" y="491355"/>
            <a:ext cx="515604" cy="51560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7017482" y="0"/>
            <a:ext cx="2126518" cy="111062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982258" y="4586625"/>
            <a:ext cx="1120884" cy="556875"/>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2BA5B44-99B4-0109-9D08-F79EA1B70BAC}"/>
              </a:ext>
            </a:extLst>
          </p:cNvPr>
          <p:cNvPicPr>
            <a:picLocks noChangeAspect="1"/>
          </p:cNvPicPr>
          <p:nvPr/>
        </p:nvPicPr>
        <p:blipFill>
          <a:blip r:embed="rId2"/>
          <a:stretch>
            <a:fillRect/>
          </a:stretch>
        </p:blipFill>
        <p:spPr>
          <a:xfrm>
            <a:off x="2426144" y="-113593"/>
            <a:ext cx="3826539" cy="4953450"/>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703060" y="4839857"/>
            <a:ext cx="611177" cy="303643"/>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6685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1213</Words>
  <Application>Microsoft Macintosh PowerPoint</Application>
  <PresentationFormat>On-screen Show (16:9)</PresentationFormat>
  <Paragraphs>99</Paragraphs>
  <Slides>9</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Workload, Fatigue, and Readiness in Elite Womens Rugby Sevens</dc:title>
  <dc:subject>PptxGenJS Presentation</dc:subject>
  <dc:creator>PptxGenJS</dc:creator>
  <cp:lastModifiedBy>Subhash, Sanjit (MU-Student)</cp:lastModifiedBy>
  <cp:revision>2</cp:revision>
  <dcterms:created xsi:type="dcterms:W3CDTF">2026-04-23T02:42:58Z</dcterms:created>
  <dcterms:modified xsi:type="dcterms:W3CDTF">2026-04-23T03:07:43Z</dcterms:modified>
</cp:coreProperties>
</file>